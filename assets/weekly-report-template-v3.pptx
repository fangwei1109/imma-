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tags/tag1.xml" ContentType="application/vnd.openxmlformats-officedocument.presentationml.tag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tags/tag2.xml" ContentType="application/vnd.openxmlformats-officedocument.presentationml.tags+xml"/>
  <Override PartName="/ppt/tags/tag3.xml" ContentType="application/vnd.openxmlformats-officedocument.presentationml.tags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3"/>
  </p:notesMasterIdLst>
  <p:handoutMasterIdLst>
    <p:handoutMasterId r:id="rId4"/>
  </p:handoutMasterIdLst>
  <p:sldIdLst>
    <p:sldId id="16766198" r:id="rId2"/>
  </p:sldIdLst>
  <p:sldSz cx="12192000" cy="6858000"/>
  <p:notesSz cx="6858000" cy="9144000"/>
  <p:custDataLst>
    <p:tags r:id="rId5"/>
  </p:custDataLst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749FA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5385" autoAdjust="0"/>
    <p:restoredTop sz="88129" autoAdjust="0"/>
  </p:normalViewPr>
  <p:slideViewPr>
    <p:cSldViewPr snapToGrid="0">
      <p:cViewPr varScale="1">
        <p:scale>
          <a:sx n="98" d="100"/>
          <a:sy n="98" d="100"/>
        </p:scale>
        <p:origin x="1398" y="90"/>
      </p:cViewPr>
      <p:guideLst/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" d="1"/>
        <a:sy n="1" d="1"/>
      </p:scale>
      <p:origin x="0" y="0"/>
    </p:cViewPr>
  </p:notesTextViewPr>
  <p:sorterViewPr>
    <p:cViewPr>
      <p:scale>
        <a:sx n="80" d="100"/>
        <a:sy n="80" d="100"/>
      </p:scale>
      <p:origin x="0" y="0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heme" Target="theme/theme1.xml"/><Relationship Id="rId3" Type="http://schemas.openxmlformats.org/officeDocument/2006/relationships/notesMaster" Target="notesMasters/notesMaster1.xml"/><Relationship Id="rId7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presProps" Target="presProps.xml"/><Relationship Id="rId5" Type="http://schemas.openxmlformats.org/officeDocument/2006/relationships/tags" Target="tags/tag1.xml"/><Relationship Id="rId4" Type="http://schemas.openxmlformats.org/officeDocument/2006/relationships/handoutMaster" Target="handoutMasters/handoutMaster1.xml"/><Relationship Id="rId9" Type="http://schemas.openxmlformats.org/officeDocument/2006/relationships/tableStyles" Target="tableStyles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9B84EA-7D68-4D60-9CB1-D50884785D1C}" type="datetimeFigureOut">
              <a:rPr lang="zh-CN" altLang="en-US" smtClean="0"/>
              <a:t>2026/4/7</a:t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D4E0FC9-F1F8-4FAE-9988-3BA365CFD46F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8695C196-67E3-4875-B25B-87E871E84809}" type="datetimeFigureOut">
              <a:rPr lang="zh-CN" altLang="en-US" smtClean="0"/>
              <a:t>2026/4/7</a:t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6D268312-67F2-4B95-AF1C-751F3C1B0677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D268312-67F2-4B95-AF1C-751F3C1B0677}" type="slidenum">
              <a:rPr lang="zh-CN" altLang="en-US" smtClean="0"/>
              <a:t>1</a:t>
            </a:fld>
            <a:endParaRPr lang="zh-CN" alt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" name="Group 6"/>
          <p:cNvGrpSpPr/>
          <p:nvPr userDrawn="1"/>
        </p:nvGrpSpPr>
        <p:grpSpPr bwMode="auto">
          <a:xfrm>
            <a:off x="291693" y="615950"/>
            <a:ext cx="11608616" cy="230188"/>
            <a:chOff x="329" y="1821"/>
            <a:chExt cx="6071" cy="0"/>
          </a:xfrm>
        </p:grpSpPr>
        <p:sp>
          <p:nvSpPr>
            <p:cNvPr id="11" name="Line 7"/>
            <p:cNvSpPr>
              <a:spLocks noChangeShapeType="1"/>
            </p:cNvSpPr>
            <p:nvPr/>
          </p:nvSpPr>
          <p:spPr bwMode="auto">
            <a:xfrm>
              <a:off x="329" y="1821"/>
              <a:ext cx="4534" cy="0"/>
            </a:xfrm>
            <a:prstGeom prst="line">
              <a:avLst/>
            </a:prstGeom>
            <a:noFill/>
            <a:ln w="25400">
              <a:solidFill>
                <a:srgbClr val="AEAEAE"/>
              </a:solidFill>
              <a:rou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pPr marL="0" marR="0" lvl="0" indent="0" algn="l" defTabSz="779145" rtl="0" eaLnBrk="1" fontAlgn="base" latinLnBrk="1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1" lang="ko-KR" altLang="en-US" sz="1535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HY헤드라인M" pitchFamily="18" charset="-127"/>
                <a:ea typeface="HY헤드라인M" pitchFamily="18" charset="-127"/>
                <a:cs typeface="+mn-cs"/>
              </a:endParaRPr>
            </a:p>
          </p:txBody>
        </p:sp>
        <p:sp>
          <p:nvSpPr>
            <p:cNvPr id="12" name="Line 8"/>
            <p:cNvSpPr>
              <a:spLocks noChangeShapeType="1"/>
            </p:cNvSpPr>
            <p:nvPr/>
          </p:nvSpPr>
          <p:spPr bwMode="auto">
            <a:xfrm>
              <a:off x="4926" y="1821"/>
              <a:ext cx="1474" cy="0"/>
            </a:xfrm>
            <a:prstGeom prst="line">
              <a:avLst/>
            </a:prstGeom>
            <a:noFill/>
            <a:ln w="25400">
              <a:solidFill>
                <a:srgbClr val="AEAEAE"/>
              </a:solidFill>
              <a:rou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pPr marL="0" marR="0" lvl="0" indent="0" algn="l" defTabSz="779145" rtl="0" eaLnBrk="1" fontAlgn="base" latinLnBrk="1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1" lang="ko-KR" altLang="en-US" sz="1535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HY헤드라인M" pitchFamily="18" charset="-127"/>
                <a:ea typeface="HY헤드라인M" pitchFamily="18" charset="-127"/>
                <a:cs typeface="+mn-cs"/>
              </a:endParaRPr>
            </a:p>
          </p:txBody>
        </p:sp>
      </p:grpSp>
      <p:sp>
        <p:nvSpPr>
          <p:cNvPr id="2" name="Text Box 38"/>
          <p:cNvSpPr txBox="1">
            <a:spLocks noChangeArrowheads="1"/>
          </p:cNvSpPr>
          <p:nvPr userDrawn="1"/>
        </p:nvSpPr>
        <p:spPr bwMode="auto">
          <a:xfrm>
            <a:off x="10778681" y="122224"/>
            <a:ext cx="1077256" cy="420362"/>
          </a:xfrm>
          <a:prstGeom prst="rect">
            <a:avLst/>
          </a:prstGeom>
          <a:noFill/>
          <a:ln w="9525">
            <a:solidFill>
              <a:srgbClr val="FF0000"/>
            </a:solidFill>
            <a:miter lim="800000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lIns="77510" tIns="38755" rIns="77510" bIns="38755"/>
          <a:lstStyle>
            <a:lvl1pPr defTabSz="838200" eaLnBrk="0" hangingPunct="0">
              <a:defRPr kumimoji="1" sz="1900" b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1pPr>
            <a:lvl2pPr marL="742950" indent="-285750" defTabSz="838200" eaLnBrk="0" hangingPunct="0">
              <a:defRPr kumimoji="1" sz="1900" b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2pPr>
            <a:lvl3pPr marL="1143000" indent="-228600" defTabSz="838200" eaLnBrk="0" hangingPunct="0">
              <a:defRPr kumimoji="1" sz="1900" b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3pPr>
            <a:lvl4pPr marL="1600200" indent="-228600" defTabSz="838200" eaLnBrk="0" hangingPunct="0">
              <a:defRPr kumimoji="1" sz="1900" b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4pPr>
            <a:lvl5pPr marL="2057400" indent="-228600" defTabSz="838200" eaLnBrk="0" hangingPunct="0">
              <a:defRPr kumimoji="1" sz="1900" b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5pPr>
            <a:lvl6pPr marL="2514600" indent="-228600" defTabSz="838200" eaLnBrk="0" fontAlgn="base" hangingPunct="0">
              <a:spcBef>
                <a:spcPct val="0"/>
              </a:spcBef>
              <a:spcAft>
                <a:spcPct val="0"/>
              </a:spcAft>
              <a:defRPr kumimoji="1" sz="1900" b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6pPr>
            <a:lvl7pPr marL="2971800" indent="-228600" defTabSz="838200" eaLnBrk="0" fontAlgn="base" hangingPunct="0">
              <a:spcBef>
                <a:spcPct val="0"/>
              </a:spcBef>
              <a:spcAft>
                <a:spcPct val="0"/>
              </a:spcAft>
              <a:defRPr kumimoji="1" sz="1900" b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7pPr>
            <a:lvl8pPr marL="3429000" indent="-228600" defTabSz="838200" eaLnBrk="0" fontAlgn="base" hangingPunct="0">
              <a:spcBef>
                <a:spcPct val="0"/>
              </a:spcBef>
              <a:spcAft>
                <a:spcPct val="0"/>
              </a:spcAft>
              <a:defRPr kumimoji="1" sz="1900" b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8pPr>
            <a:lvl9pPr marL="3886200" indent="-228600" defTabSz="838200" eaLnBrk="0" fontAlgn="base" hangingPunct="0">
              <a:spcBef>
                <a:spcPct val="0"/>
              </a:spcBef>
              <a:spcAft>
                <a:spcPct val="0"/>
              </a:spcAft>
              <a:defRPr kumimoji="1" sz="1900" b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9pPr>
          </a:lstStyle>
          <a:p>
            <a:pPr marL="0" marR="0" lvl="0" indent="0" algn="ctr" defTabSz="773430" rtl="0" eaLnBrk="1" fontAlgn="base" latinLnBrk="1" hangingPunct="1">
              <a:lnSpc>
                <a:spcPct val="120000"/>
              </a:lnSpc>
              <a:buClrTx/>
              <a:buSzTx/>
              <a:buFontTx/>
              <a:buNone/>
              <a:defRPr/>
            </a:pPr>
            <a:r>
              <a:rPr kumimoji="0" lang="ko-KR" altLang="en-US" sz="970" b="0" i="0" u="none" strike="noStrike" kern="1200" cap="none" spc="-83" normalizeH="0" baseline="0" noProof="0" dirty="0" err="1">
                <a:ln>
                  <a:solidFill>
                    <a:srgbClr val="1F497D">
                      <a:lumMod val="25000"/>
                      <a:lumOff val="75000"/>
                      <a:alpha val="0"/>
                    </a:srgbClr>
                  </a:solidFill>
                </a:ln>
                <a:solidFill>
                  <a:srgbClr val="FF0000"/>
                </a:solidFill>
                <a:effectLst/>
                <a:uLnTx/>
                <a:uFillTx/>
                <a:latin typeface="현대하모니 L" panose="02020603020101020101" pitchFamily="18" charset="-127"/>
                <a:ea typeface="현대하모니 L" panose="02020603020101020101" pitchFamily="18" charset="-127"/>
              </a:rPr>
              <a:t>사내한</a:t>
            </a:r>
            <a:endParaRPr kumimoji="0" lang="en-US" altLang="ko-KR" sz="970" b="0" i="0" u="none" strike="noStrike" kern="1200" cap="none" spc="-83" normalizeH="0" baseline="0" noProof="0" dirty="0">
              <a:ln>
                <a:solidFill>
                  <a:srgbClr val="1F497D">
                    <a:lumMod val="25000"/>
                    <a:lumOff val="75000"/>
                    <a:alpha val="0"/>
                  </a:srgbClr>
                </a:solidFill>
              </a:ln>
              <a:solidFill>
                <a:srgbClr val="FF0000"/>
              </a:solidFill>
              <a:effectLst/>
              <a:uLnTx/>
              <a:uFillTx/>
              <a:latin typeface="현대하모니 L" panose="02020603020101020101" pitchFamily="18" charset="-127"/>
              <a:ea typeface="현대하모니 L" panose="02020603020101020101" pitchFamily="18" charset="-127"/>
            </a:endParaRPr>
          </a:p>
          <a:p>
            <a:pPr marL="0" marR="0" lvl="0" indent="0" algn="ctr" defTabSz="773430" rtl="0" eaLnBrk="1" fontAlgn="base" latinLnBrk="1" hangingPunct="1">
              <a:lnSpc>
                <a:spcPct val="120000"/>
              </a:lnSpc>
              <a:buClrTx/>
              <a:buSzTx/>
              <a:buFontTx/>
              <a:buNone/>
              <a:defRPr/>
            </a:pPr>
            <a:r>
              <a:rPr kumimoji="0" lang="en-US" altLang="ko-KR" sz="970" b="0" i="0" u="none" strike="noStrike" kern="1200" cap="none" spc="-83" normalizeH="0" baseline="0" noProof="0" dirty="0">
                <a:ln>
                  <a:solidFill>
                    <a:srgbClr val="1F497D">
                      <a:lumMod val="25000"/>
                      <a:lumOff val="75000"/>
                      <a:alpha val="0"/>
                    </a:srgbClr>
                  </a:solidFill>
                </a:ln>
                <a:solidFill>
                  <a:srgbClr val="FF0000"/>
                </a:solidFill>
                <a:effectLst/>
                <a:uLnTx/>
                <a:uFillTx/>
                <a:latin typeface="현대하모니 L" panose="02020603020101020101" pitchFamily="18" charset="-127"/>
                <a:ea typeface="현대하모니 L" panose="02020603020101020101" pitchFamily="18" charset="-127"/>
              </a:rPr>
              <a:t>RESTRICTED</a:t>
            </a:r>
            <a:endParaRPr kumimoji="0" lang="ko-KR" altLang="en-US" sz="970" b="0" i="0" u="none" strike="noStrike" kern="1200" cap="none" spc="-83" normalizeH="0" baseline="0" noProof="0" dirty="0">
              <a:ln>
                <a:solidFill>
                  <a:srgbClr val="1F497D">
                    <a:lumMod val="25000"/>
                    <a:lumOff val="75000"/>
                    <a:alpha val="0"/>
                  </a:srgbClr>
                </a:solidFill>
              </a:ln>
              <a:solidFill>
                <a:srgbClr val="FF0000"/>
              </a:solidFill>
              <a:effectLst/>
              <a:uLnTx/>
              <a:uFillTx/>
              <a:latin typeface="현대하모니 L" panose="02020603020101020101" pitchFamily="18" charset="-127"/>
              <a:ea typeface="현대하모니 L" panose="02020603020101020101" pitchFamily="18" charset="-127"/>
            </a:endParaRPr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userDrawn="1">
  <p:cSld name="5_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64024" y="540000"/>
            <a:ext cx="11273052" cy="900000"/>
          </a:xfrm>
          <a:prstGeom prst="rect">
            <a:avLst/>
          </a:prstGeom>
        </p:spPr>
        <p:txBody>
          <a:bodyPr lIns="0" rIns="0" anchor="t">
            <a:noAutofit/>
          </a:bodyPr>
          <a:lstStyle>
            <a:lvl1pPr>
              <a:lnSpc>
                <a:spcPct val="100000"/>
              </a:lnSpc>
              <a:defRPr b="0">
                <a:solidFill>
                  <a:schemeClr val="tx1"/>
                </a:solidFill>
                <a:latin typeface="Helvetica Neue" charset="0"/>
                <a:ea typeface="Helvetica Neue" charset="0"/>
                <a:cs typeface="Helvetica Neue" charset="0"/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7" name="Text Placeholder 5"/>
          <p:cNvSpPr>
            <a:spLocks noGrp="1"/>
          </p:cNvSpPr>
          <p:nvPr>
            <p:ph idx="1"/>
          </p:nvPr>
        </p:nvSpPr>
        <p:spPr>
          <a:xfrm>
            <a:off x="464021" y="1733550"/>
            <a:ext cx="11273054" cy="4365923"/>
          </a:xfrm>
          <a:prstGeom prst="rect">
            <a:avLst/>
          </a:prstGeom>
        </p:spPr>
        <p:txBody>
          <a:bodyPr vert="horz" lIns="0" tIns="45720" rIns="0" bIns="45720" rtlCol="0"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sp>
        <p:nvSpPr>
          <p:cNvPr id="9" name="Text Placeholder 3"/>
          <p:cNvSpPr>
            <a:spLocks noGrp="1"/>
          </p:cNvSpPr>
          <p:nvPr>
            <p:ph type="body" sz="quarter" idx="11" hasCustomPrompt="1"/>
          </p:nvPr>
        </p:nvSpPr>
        <p:spPr>
          <a:xfrm>
            <a:off x="464023" y="6292116"/>
            <a:ext cx="2496982" cy="305999"/>
          </a:xfrm>
          <a:prstGeom prst="rect">
            <a:avLst/>
          </a:prstGeom>
        </p:spPr>
        <p:txBody>
          <a:bodyPr lIns="0" rIns="0" anchor="ctr">
            <a:no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1000" b="1" cap="all" baseline="0">
                <a:solidFill>
                  <a:schemeClr val="tx1"/>
                </a:solidFill>
                <a:latin typeface="Helvetica Neue" charset="0"/>
                <a:ea typeface="Helvetica Neue" charset="0"/>
                <a:cs typeface="Helvetica Neue" charset="0"/>
              </a:defRPr>
            </a:lvl1pPr>
          </a:lstStyle>
          <a:p>
            <a:pPr lvl="0"/>
            <a:r>
              <a:rPr lang="en-US" dirty="0"/>
              <a:t>AI ALLIANCE</a:t>
            </a:r>
          </a:p>
        </p:txBody>
      </p:sp>
      <p:sp>
        <p:nvSpPr>
          <p:cNvPr id="3" name="Slide Number Placeholder 5"/>
          <p:cNvSpPr txBox="1"/>
          <p:nvPr userDrawn="1"/>
        </p:nvSpPr>
        <p:spPr>
          <a:xfrm>
            <a:off x="11255481" y="221460"/>
            <a:ext cx="606285" cy="363600"/>
          </a:xfrm>
          <a:prstGeom prst="rect">
            <a:avLst/>
          </a:prstGeom>
        </p:spPr>
        <p:txBody>
          <a:bodyPr vert="horz" lIns="0" tIns="0" rIns="0" bIns="0" rtlCol="0" anchor="ctr"/>
          <a:lstStyle>
            <a:defPPr>
              <a:defRPr lang="en-US"/>
            </a:defPPr>
            <a:lvl1pPr marL="0" algn="r" defTabSz="914400" rtl="0" eaLnBrk="1" latinLnBrk="0" hangingPunct="1">
              <a:defRPr sz="1200" kern="1200">
                <a:solidFill>
                  <a:schemeClr val="tx1"/>
                </a:solidFill>
                <a:latin typeface="현대하모니 L" panose="02020603020101020101" pitchFamily="18" charset="-127"/>
                <a:ea typeface="현대하모니 L" panose="02020603020101020101" pitchFamily="18" charset="-127"/>
                <a:cs typeface="현대하모니 L" panose="02020603020101020101" pitchFamily="18" charset="-127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590C1768-AD81-1644-9046-2BD41D15DCD9}" type="slidenum">
              <a:rPr lang="en-US" sz="1400" b="1" smtClean="0"/>
              <a:t>‹#›</a:t>
            </a:fld>
            <a:endParaRPr lang="en-US" sz="1400" b="1"/>
          </a:p>
        </p:txBody>
      </p:sp>
      <p:sp>
        <p:nvSpPr>
          <p:cNvPr id="4" name="TextBox 3"/>
          <p:cNvSpPr txBox="1"/>
          <p:nvPr userDrawn="1"/>
        </p:nvSpPr>
        <p:spPr>
          <a:xfrm>
            <a:off x="63500" y="7680"/>
            <a:ext cx="8332409" cy="107722"/>
          </a:xfrm>
          <a:prstGeom prst="rect">
            <a:avLst/>
          </a:prstGeom>
        </p:spPr>
        <p:txBody>
          <a:bodyPr horzOverflow="overflow" wrap="none" lIns="0" tIns="0" rIns="0" bIns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ko-KR" altLang="en-US" sz="700" kern="1200">
                <a:solidFill>
                  <a:srgbClr val="000000"/>
                </a:solidFill>
                <a:latin typeface="현대하모니 L" panose="02020603020101020101" pitchFamily="18" charset="-127"/>
                <a:ea typeface="현대하모니 L" panose="02020603020101020101" pitchFamily="18" charset="-127"/>
                <a:cs typeface="Calibri" panose="020F0502020204030204" pitchFamily="34" charset="0"/>
              </a:rPr>
              <a:t>본 문서는 현대자동차·기아의 정보자산으로 관련 법령에 의해 보호받습니다.  </a:t>
            </a:r>
            <a:r>
              <a:rPr lang="en-US" altLang="ko-KR" sz="700" kern="1200">
                <a:solidFill>
                  <a:srgbClr val="000000"/>
                </a:solidFill>
                <a:latin typeface="현대하모니 L" panose="02020603020101020101" pitchFamily="18" charset="-127"/>
                <a:ea typeface="현대하모니 L" panose="02020603020101020101" pitchFamily="18" charset="-127"/>
                <a:cs typeface="Calibri" panose="020F0502020204030204" pitchFamily="34" charset="0"/>
              </a:rPr>
              <a:t>This document is an information asset of Hyundai Motor Company and Kia Motors and is protected by relevant laws and regulations.</a:t>
            </a:r>
            <a:endParaRPr lang="ko-KR" altLang="en-US" sz="700" kern="1200">
              <a:solidFill>
                <a:srgbClr val="000000"/>
              </a:solidFill>
              <a:latin typeface="현대하모니 L" panose="02020603020101020101" pitchFamily="18" charset="-127"/>
              <a:ea typeface="현대하모니 L" panose="02020603020101020101" pitchFamily="18" charset="-127"/>
              <a:cs typeface="Calibri" panose="020F0502020204030204" pitchFamily="34" charset="0"/>
            </a:endParaRPr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hdr="0" ftr="0" dt="0"/>
  <p:txStyles>
    <p:titleStyle>
      <a:lvl1pPr algn="r" rtl="0" eaLnBrk="0" fontAlgn="base" latinLnBrk="1" hangingPunct="0">
        <a:spcBef>
          <a:spcPct val="50000"/>
        </a:spcBef>
        <a:spcAft>
          <a:spcPct val="0"/>
        </a:spcAft>
        <a:defRPr kumimoji="1" sz="1195">
          <a:solidFill>
            <a:srgbClr val="777777"/>
          </a:solidFill>
          <a:latin typeface="+mj-lt"/>
          <a:ea typeface="+mj-ea"/>
          <a:cs typeface="+mj-cs"/>
        </a:defRPr>
      </a:lvl1pPr>
      <a:lvl2pPr algn="r" rtl="0" eaLnBrk="0" fontAlgn="base" latinLnBrk="1" hangingPunct="0">
        <a:spcBef>
          <a:spcPct val="50000"/>
        </a:spcBef>
        <a:spcAft>
          <a:spcPct val="0"/>
        </a:spcAft>
        <a:defRPr kumimoji="1" sz="1195">
          <a:solidFill>
            <a:srgbClr val="777777"/>
          </a:solidFill>
          <a:latin typeface="굴림" pitchFamily="50" charset="-127"/>
          <a:ea typeface="굴림" pitchFamily="50" charset="-127"/>
        </a:defRPr>
      </a:lvl2pPr>
      <a:lvl3pPr algn="r" rtl="0" eaLnBrk="0" fontAlgn="base" latinLnBrk="1" hangingPunct="0">
        <a:spcBef>
          <a:spcPct val="50000"/>
        </a:spcBef>
        <a:spcAft>
          <a:spcPct val="0"/>
        </a:spcAft>
        <a:defRPr kumimoji="1" sz="1195">
          <a:solidFill>
            <a:srgbClr val="777777"/>
          </a:solidFill>
          <a:latin typeface="굴림" pitchFamily="50" charset="-127"/>
          <a:ea typeface="굴림" pitchFamily="50" charset="-127"/>
        </a:defRPr>
      </a:lvl3pPr>
      <a:lvl4pPr algn="r" rtl="0" eaLnBrk="0" fontAlgn="base" latinLnBrk="1" hangingPunct="0">
        <a:spcBef>
          <a:spcPct val="50000"/>
        </a:spcBef>
        <a:spcAft>
          <a:spcPct val="0"/>
        </a:spcAft>
        <a:defRPr kumimoji="1" sz="1195">
          <a:solidFill>
            <a:srgbClr val="777777"/>
          </a:solidFill>
          <a:latin typeface="굴림" pitchFamily="50" charset="-127"/>
          <a:ea typeface="굴림" pitchFamily="50" charset="-127"/>
        </a:defRPr>
      </a:lvl4pPr>
      <a:lvl5pPr algn="r" rtl="0" eaLnBrk="0" fontAlgn="base" latinLnBrk="1" hangingPunct="0">
        <a:spcBef>
          <a:spcPct val="50000"/>
        </a:spcBef>
        <a:spcAft>
          <a:spcPct val="0"/>
        </a:spcAft>
        <a:defRPr kumimoji="1" sz="1195">
          <a:solidFill>
            <a:srgbClr val="777777"/>
          </a:solidFill>
          <a:latin typeface="굴림" pitchFamily="50" charset="-127"/>
          <a:ea typeface="굴림" pitchFamily="50" charset="-127"/>
        </a:defRPr>
      </a:lvl5pPr>
      <a:lvl6pPr marL="389890" algn="r" rtl="0" fontAlgn="base" latinLnBrk="1">
        <a:spcBef>
          <a:spcPct val="50000"/>
        </a:spcBef>
        <a:spcAft>
          <a:spcPct val="0"/>
        </a:spcAft>
        <a:defRPr kumimoji="1" sz="1195">
          <a:solidFill>
            <a:srgbClr val="777777"/>
          </a:solidFill>
          <a:latin typeface="굴림" pitchFamily="50" charset="-127"/>
          <a:ea typeface="굴림" pitchFamily="50" charset="-127"/>
        </a:defRPr>
      </a:lvl6pPr>
      <a:lvl7pPr marL="779145" algn="r" rtl="0" fontAlgn="base" latinLnBrk="1">
        <a:spcBef>
          <a:spcPct val="50000"/>
        </a:spcBef>
        <a:spcAft>
          <a:spcPct val="0"/>
        </a:spcAft>
        <a:defRPr kumimoji="1" sz="1195">
          <a:solidFill>
            <a:srgbClr val="777777"/>
          </a:solidFill>
          <a:latin typeface="굴림" pitchFamily="50" charset="-127"/>
          <a:ea typeface="굴림" pitchFamily="50" charset="-127"/>
        </a:defRPr>
      </a:lvl7pPr>
      <a:lvl8pPr marL="1169035" algn="r" rtl="0" fontAlgn="base" latinLnBrk="1">
        <a:spcBef>
          <a:spcPct val="50000"/>
        </a:spcBef>
        <a:spcAft>
          <a:spcPct val="0"/>
        </a:spcAft>
        <a:defRPr kumimoji="1" sz="1195">
          <a:solidFill>
            <a:srgbClr val="777777"/>
          </a:solidFill>
          <a:latin typeface="굴림" pitchFamily="50" charset="-127"/>
          <a:ea typeface="굴림" pitchFamily="50" charset="-127"/>
        </a:defRPr>
      </a:lvl8pPr>
      <a:lvl9pPr marL="1558290" algn="r" rtl="0" fontAlgn="base" latinLnBrk="1">
        <a:spcBef>
          <a:spcPct val="50000"/>
        </a:spcBef>
        <a:spcAft>
          <a:spcPct val="0"/>
        </a:spcAft>
        <a:defRPr kumimoji="1" sz="1195">
          <a:solidFill>
            <a:srgbClr val="777777"/>
          </a:solidFill>
          <a:latin typeface="굴림" pitchFamily="50" charset="-127"/>
          <a:ea typeface="굴림" pitchFamily="50" charset="-127"/>
        </a:defRPr>
      </a:lvl9pPr>
    </p:titleStyle>
    <p:bodyStyle>
      <a:lvl1pPr marL="292100" indent="-292100" algn="l" rtl="0" eaLnBrk="0" fontAlgn="base" latinLnBrk="1" hangingPunct="0">
        <a:spcBef>
          <a:spcPct val="20000"/>
        </a:spcBef>
        <a:spcAft>
          <a:spcPct val="0"/>
        </a:spcAft>
        <a:buChar char="•"/>
        <a:defRPr kumimoji="1" sz="2725">
          <a:solidFill>
            <a:schemeClr val="tx1"/>
          </a:solidFill>
          <a:latin typeface="+mn-lt"/>
          <a:ea typeface="+mn-ea"/>
          <a:cs typeface="+mn-cs"/>
        </a:defRPr>
      </a:lvl1pPr>
      <a:lvl2pPr marL="633095" indent="-243205" algn="l" rtl="0" eaLnBrk="0" fontAlgn="base" latinLnBrk="1" hangingPunct="0">
        <a:spcBef>
          <a:spcPct val="20000"/>
        </a:spcBef>
        <a:spcAft>
          <a:spcPct val="0"/>
        </a:spcAft>
        <a:buChar char="–"/>
        <a:defRPr kumimoji="1" sz="2385">
          <a:solidFill>
            <a:schemeClr val="tx1"/>
          </a:solidFill>
          <a:latin typeface="+mn-lt"/>
          <a:ea typeface="+mn-ea"/>
        </a:defRPr>
      </a:lvl2pPr>
      <a:lvl3pPr marL="974090" indent="-194945" algn="l" rtl="0" eaLnBrk="0" fontAlgn="base" latinLnBrk="1" hangingPunct="0">
        <a:spcBef>
          <a:spcPct val="20000"/>
        </a:spcBef>
        <a:spcAft>
          <a:spcPct val="0"/>
        </a:spcAft>
        <a:buChar char="•"/>
        <a:defRPr kumimoji="1" sz="2045">
          <a:solidFill>
            <a:schemeClr val="tx1"/>
          </a:solidFill>
          <a:latin typeface="+mn-lt"/>
          <a:ea typeface="+mn-ea"/>
        </a:defRPr>
      </a:lvl3pPr>
      <a:lvl4pPr marL="1363345" indent="-196215" algn="l" rtl="0" eaLnBrk="0" fontAlgn="base" latinLnBrk="1" hangingPunct="0">
        <a:spcBef>
          <a:spcPct val="20000"/>
        </a:spcBef>
        <a:spcAft>
          <a:spcPct val="0"/>
        </a:spcAft>
        <a:buChar char="–"/>
        <a:defRPr kumimoji="1" sz="1705">
          <a:solidFill>
            <a:schemeClr val="tx1"/>
          </a:solidFill>
          <a:latin typeface="+mn-lt"/>
          <a:ea typeface="+mn-ea"/>
        </a:defRPr>
      </a:lvl4pPr>
      <a:lvl5pPr marL="1753235" indent="-194945" algn="l" rtl="0" eaLnBrk="0" fontAlgn="base" latinLnBrk="1" hangingPunct="0">
        <a:spcBef>
          <a:spcPct val="20000"/>
        </a:spcBef>
        <a:spcAft>
          <a:spcPct val="0"/>
        </a:spcAft>
        <a:buChar char="»"/>
        <a:defRPr kumimoji="1" sz="1705">
          <a:solidFill>
            <a:schemeClr val="tx1"/>
          </a:solidFill>
          <a:latin typeface="+mn-lt"/>
          <a:ea typeface="+mn-ea"/>
        </a:defRPr>
      </a:lvl5pPr>
      <a:lvl6pPr marL="2142490" indent="-194945" algn="l" rtl="0" fontAlgn="base" latinLnBrk="1">
        <a:spcBef>
          <a:spcPct val="20000"/>
        </a:spcBef>
        <a:spcAft>
          <a:spcPct val="0"/>
        </a:spcAft>
        <a:buChar char="»"/>
        <a:defRPr kumimoji="1" sz="1705">
          <a:solidFill>
            <a:schemeClr val="tx1"/>
          </a:solidFill>
          <a:latin typeface="+mn-lt"/>
          <a:ea typeface="+mn-ea"/>
        </a:defRPr>
      </a:lvl6pPr>
      <a:lvl7pPr marL="2532380" indent="-194945" algn="l" rtl="0" fontAlgn="base" latinLnBrk="1">
        <a:spcBef>
          <a:spcPct val="20000"/>
        </a:spcBef>
        <a:spcAft>
          <a:spcPct val="0"/>
        </a:spcAft>
        <a:buChar char="»"/>
        <a:defRPr kumimoji="1" sz="1705">
          <a:solidFill>
            <a:schemeClr val="tx1"/>
          </a:solidFill>
          <a:latin typeface="+mn-lt"/>
          <a:ea typeface="+mn-ea"/>
        </a:defRPr>
      </a:lvl7pPr>
      <a:lvl8pPr marL="2921635" indent="-194945" algn="l" rtl="0" fontAlgn="base" latinLnBrk="1">
        <a:spcBef>
          <a:spcPct val="20000"/>
        </a:spcBef>
        <a:spcAft>
          <a:spcPct val="0"/>
        </a:spcAft>
        <a:buChar char="»"/>
        <a:defRPr kumimoji="1" sz="1705">
          <a:solidFill>
            <a:schemeClr val="tx1"/>
          </a:solidFill>
          <a:latin typeface="+mn-lt"/>
          <a:ea typeface="+mn-ea"/>
        </a:defRPr>
      </a:lvl8pPr>
      <a:lvl9pPr marL="3311525" indent="-194945" algn="l" rtl="0" fontAlgn="base" latinLnBrk="1">
        <a:spcBef>
          <a:spcPct val="20000"/>
        </a:spcBef>
        <a:spcAft>
          <a:spcPct val="0"/>
        </a:spcAft>
        <a:buChar char="»"/>
        <a:defRPr kumimoji="1" sz="1705">
          <a:solidFill>
            <a:schemeClr val="tx1"/>
          </a:solidFill>
          <a:latin typeface="+mn-lt"/>
          <a:ea typeface="+mn-ea"/>
        </a:defRPr>
      </a:lvl9pPr>
    </p:bodyStyle>
    <p:otherStyle>
      <a:defPPr>
        <a:defRPr lang="ko-KR"/>
      </a:defPPr>
      <a:lvl1pPr marL="0" algn="l" defTabSz="779145" rtl="0" eaLnBrk="1" latinLnBrk="1" hangingPunct="1">
        <a:defRPr sz="1535" kern="1200">
          <a:solidFill>
            <a:schemeClr val="tx1"/>
          </a:solidFill>
          <a:latin typeface="+mn-lt"/>
          <a:ea typeface="+mn-ea"/>
          <a:cs typeface="+mn-cs"/>
        </a:defRPr>
      </a:lvl1pPr>
      <a:lvl2pPr marL="389890" algn="l" defTabSz="779145" rtl="0" eaLnBrk="1" latinLnBrk="1" hangingPunct="1">
        <a:defRPr sz="1535" kern="1200">
          <a:solidFill>
            <a:schemeClr val="tx1"/>
          </a:solidFill>
          <a:latin typeface="+mn-lt"/>
          <a:ea typeface="+mn-ea"/>
          <a:cs typeface="+mn-cs"/>
        </a:defRPr>
      </a:lvl2pPr>
      <a:lvl3pPr marL="779145" algn="l" defTabSz="779145" rtl="0" eaLnBrk="1" latinLnBrk="1" hangingPunct="1">
        <a:defRPr sz="1535" kern="1200">
          <a:solidFill>
            <a:schemeClr val="tx1"/>
          </a:solidFill>
          <a:latin typeface="+mn-lt"/>
          <a:ea typeface="+mn-ea"/>
          <a:cs typeface="+mn-cs"/>
        </a:defRPr>
      </a:lvl3pPr>
      <a:lvl4pPr marL="1169035" algn="l" defTabSz="779145" rtl="0" eaLnBrk="1" latinLnBrk="1" hangingPunct="1">
        <a:defRPr sz="1535" kern="1200">
          <a:solidFill>
            <a:schemeClr val="tx1"/>
          </a:solidFill>
          <a:latin typeface="+mn-lt"/>
          <a:ea typeface="+mn-ea"/>
          <a:cs typeface="+mn-cs"/>
        </a:defRPr>
      </a:lvl4pPr>
      <a:lvl5pPr marL="1558290" algn="l" defTabSz="779145" rtl="0" eaLnBrk="1" latinLnBrk="1" hangingPunct="1">
        <a:defRPr sz="1535" kern="1200">
          <a:solidFill>
            <a:schemeClr val="tx1"/>
          </a:solidFill>
          <a:latin typeface="+mn-lt"/>
          <a:ea typeface="+mn-ea"/>
          <a:cs typeface="+mn-cs"/>
        </a:defRPr>
      </a:lvl5pPr>
      <a:lvl6pPr marL="1948180" algn="l" defTabSz="779145" rtl="0" eaLnBrk="1" latinLnBrk="1" hangingPunct="1">
        <a:defRPr sz="1535" kern="1200">
          <a:solidFill>
            <a:schemeClr val="tx1"/>
          </a:solidFill>
          <a:latin typeface="+mn-lt"/>
          <a:ea typeface="+mn-ea"/>
          <a:cs typeface="+mn-cs"/>
        </a:defRPr>
      </a:lvl6pPr>
      <a:lvl7pPr marL="2337435" algn="l" defTabSz="779145" rtl="0" eaLnBrk="1" latinLnBrk="1" hangingPunct="1">
        <a:defRPr sz="1535" kern="1200">
          <a:solidFill>
            <a:schemeClr val="tx1"/>
          </a:solidFill>
          <a:latin typeface="+mn-lt"/>
          <a:ea typeface="+mn-ea"/>
          <a:cs typeface="+mn-cs"/>
        </a:defRPr>
      </a:lvl7pPr>
      <a:lvl8pPr marL="2727325" algn="l" defTabSz="779145" rtl="0" eaLnBrk="1" latinLnBrk="1" hangingPunct="1">
        <a:defRPr sz="1535" kern="1200">
          <a:solidFill>
            <a:schemeClr val="tx1"/>
          </a:solidFill>
          <a:latin typeface="+mn-lt"/>
          <a:ea typeface="+mn-ea"/>
          <a:cs typeface="+mn-cs"/>
        </a:defRPr>
      </a:lvl8pPr>
      <a:lvl9pPr marL="3116580" algn="l" defTabSz="779145" rtl="0" eaLnBrk="1" latinLnBrk="1" hangingPunct="1">
        <a:defRPr sz="1535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tags" Target="../tags/tag3.xml"/><Relationship Id="rId1" Type="http://schemas.openxmlformats.org/officeDocument/2006/relationships/tags" Target="../tags/tag2.xml"/><Relationship Id="rId5" Type="http://schemas.openxmlformats.org/officeDocument/2006/relationships/image" Target="../media/image1.png"/><Relationship Id="rId4" Type="http://schemas.openxmlformats.org/officeDocument/2006/relationships/notesSlide" Target="../notesSlides/notesSlide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7"/>
          <p:cNvSpPr txBox="1"/>
          <p:nvPr/>
        </p:nvSpPr>
        <p:spPr>
          <a:xfrm>
            <a:off x="230747" y="125391"/>
            <a:ext cx="9937144" cy="521970"/>
          </a:xfrm>
          <a:prstGeom prst="rect">
            <a:avLst/>
          </a:prstGeom>
        </p:spPr>
        <p:txBody>
          <a:bodyPr vert="horz" wrap="square" lIns="91440" tIns="45720" rIns="91440" bIns="45720" rtlCol="0">
            <a:spAutoFit/>
          </a:bodyPr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kumimoji="0" lang="en-US" altLang="zh-CN" sz="280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현대하모니 M" panose="02020603020101020101" pitchFamily="18" charset="-127"/>
                <a:ea typeface="HDharmony M" panose="02020603020101020101" pitchFamily="18" charset="-127"/>
                <a:cs typeface="+mn-cs"/>
              </a:rPr>
              <a:t>[Startup] Alpha Robotics</a:t>
            </a:r>
            <a:endParaRPr kumimoji="0" lang="zh-CN" altLang="en-US" sz="280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현대하모니 M" panose="02020603020101020101" pitchFamily="18" charset="-127"/>
              <a:cs typeface="+mn-cs"/>
            </a:endParaRPr>
          </a:p>
        </p:txBody>
      </p:sp>
      <p:graphicFrame>
        <p:nvGraphicFramePr>
          <p:cNvPr id="4" name="Table 3"/>
          <p:cNvGraphicFramePr>
            <a:graphicFrameLocks noGrp="1"/>
          </p:cNvGraphicFramePr>
          <p:nvPr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4263710667"/>
              </p:ext>
            </p:extLst>
          </p:nvPr>
        </p:nvGraphicFramePr>
        <p:xfrm>
          <a:off x="324739" y="655320"/>
          <a:ext cx="11723370" cy="6120314"/>
        </p:xfrm>
        <a:graphic>
          <a:graphicData uri="http://schemas.openxmlformats.org/drawingml/2006/table">
            <a:tbl>
              <a:tblPr firstRow="1" bandRow="1"/>
              <a:tblGrid>
                <a:gridCol w="543496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628840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721979">
                <a:tc gridSpan="2"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9pPr>
                    </a:lstStyle>
                    <a:p>
                      <a:pPr marL="0" marR="0" lvl="0" indent="0" algn="l" defTabSz="914400" rtl="0" eaLnBrk="1" fontAlgn="auto" latinLnBrk="0" hangingPunct="1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defRPr/>
                      </a:pPr>
                      <a:r>
                        <a:rPr kumimoji="0" lang="en-CA" altLang="ko-KR" sz="1000" b="1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현대하모니 L" panose="02020603020101020101" pitchFamily="18" charset="-127"/>
                          <a:ea typeface="현대하모니 L" panose="02020603020101020101" pitchFamily="18" charset="-127"/>
                          <a:cs typeface="+mn-cs"/>
                        </a:rPr>
                        <a:t>Meeting Information</a:t>
                      </a:r>
                    </a:p>
                    <a:p>
                      <a:pPr marL="0" marR="0" lvl="0" indent="0" algn="l" defTabSz="914400" rtl="0" eaLnBrk="1" fontAlgn="auto" latinLnBrk="0" hangingPunct="1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defRPr/>
                      </a:pPr>
                      <a:r>
                        <a:rPr kumimoji="0" lang="en-CA" altLang="ko-KR" sz="10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현대하모니 L" panose="02020603020101020101" pitchFamily="18" charset="-127"/>
                          <a:ea typeface="현대하모니 L" panose="02020603020101020101" pitchFamily="18" charset="-127"/>
                          <a:cs typeface="+mn-cs"/>
                        </a:rPr>
                        <a:t>- date : '26.4.07</a:t>
                      </a:r>
                    </a:p>
                    <a:p>
                      <a:pPr marL="0" marR="0" lvl="0" indent="0" algn="l" defTabSz="914400" rtl="0" eaLnBrk="1" fontAlgn="auto" latinLnBrk="0" hangingPunct="1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defRPr/>
                      </a:pPr>
                      <a:r>
                        <a:rPr kumimoji="0" lang="en-CA" altLang="ko-KR" sz="10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현대하모니 L" panose="02020603020101020101" pitchFamily="18" charset="-127"/>
                          <a:ea typeface="현대하모니 L" panose="02020603020101020101" pitchFamily="18" charset="-127"/>
                          <a:cs typeface="+mn-cs"/>
                        </a:rPr>
                        <a:t>- participants : Shanghai Cradle - FANG Wei; Alpha Robotics CEO - Chen Hao</a:t>
                      </a:r>
                      <a:endParaRPr lang="en-US" altLang="ko-KR" sz="1000" b="0" i="0" kern="1200" dirty="0">
                        <a:solidFill>
                          <a:srgbClr val="000000"/>
                        </a:solidFill>
                        <a:latin typeface="현대하모니 L" panose="02020603020101020101" pitchFamily="18" charset="-127"/>
                        <a:ea typeface="현대하모니 L" panose="02020603020101020101" pitchFamily="18" charset="-127"/>
                        <a:cs typeface="+mn-cs"/>
                      </a:endParaRPr>
                    </a:p>
                  </a:txBody>
                  <a:tcPr>
                    <a:lnL w="12700" cmpd="sng">
                      <a:solidFill>
                        <a:srgbClr val="000000"/>
                      </a:solidFill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solidFill>
                        <a:srgbClr val="000000"/>
                      </a:solidFill>
                    </a:lnT>
                    <a:lnB w="12700" cmpd="sng">
                      <a:solidFill>
                        <a:srgbClr val="000000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zh-CN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627633">
                <a:tc gridSpan="2"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9pPr>
                    </a:lstStyle>
                    <a:p>
                      <a:pPr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000" b="1" i="0">
                          <a:solidFill>
                            <a:srgbClr val="000000"/>
                          </a:solidFill>
                          <a:latin typeface="현대하모니 L" panose="02020603020101020101" pitchFamily="18" charset="-127"/>
                          <a:ea typeface="현대하모니 L" panose="02020603020101020101" pitchFamily="18" charset="-127"/>
                        </a:rPr>
                        <a:t>Company Description</a:t>
                      </a:r>
                    </a:p>
                    <a:p>
                      <a:pPr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000" b="0" i="0">
                          <a:solidFill>
                            <a:srgbClr val="000000"/>
                          </a:solidFill>
                          <a:latin typeface="현대하모니 L" panose="02020603020101020101" pitchFamily="18" charset="-127"/>
                          <a:ea typeface="현대하모니 L" panose="02020603020101020101" pitchFamily="18" charset="-127"/>
                        </a:rPr>
                        <a:t>Developer of dexterous robot hands and embodied manipulation modules for industrial automation.</a:t>
                      </a:r>
                    </a:p>
                    <a:p>
                      <a:pPr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000" b="0" i="0">
                          <a:solidFill>
                            <a:srgbClr val="000000"/>
                          </a:solidFill>
                          <a:latin typeface="현대하모니 L" panose="02020603020101020101" pitchFamily="18" charset="-127"/>
                          <a:ea typeface="현대하모니 L" panose="02020603020101020101" pitchFamily="18" charset="-127"/>
                        </a:rPr>
                        <a:t>Founded in 2024; HQ in Shanghai</a:t>
                      </a:r>
                      <a:endParaRPr lang="en-US" altLang="ko-KR" sz="1000" b="0" i="0" dirty="0">
                        <a:solidFill>
                          <a:srgbClr val="000000"/>
                        </a:solidFill>
                        <a:latin typeface="현대하모니 L" panose="02020603020101020101" pitchFamily="18" charset="-127"/>
                        <a:ea typeface="현대하모니 L" panose="02020603020101020101" pitchFamily="18" charset="-127"/>
                      </a:endParaRPr>
                    </a:p>
                  </a:txBody>
                  <a:tcPr>
                    <a:lnL w="12700" cmpd="sng">
                      <a:solidFill>
                        <a:srgbClr val="000000"/>
                      </a:solidFill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solidFill>
                        <a:srgbClr val="000000"/>
                      </a:solidFill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zh-CN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13259"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9pPr>
                    </a:lstStyle>
                    <a:p>
                      <a:pPr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CA" sz="1000" b="1" i="0">
                          <a:solidFill>
                            <a:srgbClr val="000000"/>
                          </a:solidFill>
                          <a:latin typeface="현대하모니 L" panose="02020603020101020101" pitchFamily="18" charset="-127"/>
                          <a:ea typeface="현대하모니 L" panose="02020603020101020101" pitchFamily="18" charset="-127"/>
                        </a:rPr>
                        <a:t>Category : Physical AI</a:t>
                      </a:r>
                      <a:endParaRPr lang="en-US" altLang="en-CA" sz="1000" b="1" i="0" kern="1200" dirty="0">
                        <a:solidFill>
                          <a:srgbClr val="000000"/>
                        </a:solidFill>
                        <a:latin typeface="현대하모니 L" panose="02020603020101020101" pitchFamily="18" charset="-127"/>
                        <a:ea typeface="현대하모니 L" panose="02020603020101020101" pitchFamily="18" charset="-127"/>
                        <a:cs typeface="+mn-cs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solidFill>
                        <a:srgbClr val="000000"/>
                      </a:solidFill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solidFill>
                        <a:srgbClr val="000000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000" b="1" i="0">
                          <a:solidFill>
                            <a:srgbClr val="000000"/>
                          </a:solidFill>
                          <a:latin typeface="현대하모니 L" panose="02020603020101020101" pitchFamily="18" charset="-127"/>
                          <a:ea typeface="현대하모니 L" panose="02020603020101020101" pitchFamily="18" charset="-127"/>
                        </a:rPr>
                        <a:t>Sourced by / CRADLE contact : FANG Wei</a:t>
                      </a:r>
                      <a:endParaRPr lang="en-CA" sz="1000" b="1" i="0" dirty="0">
                        <a:solidFill>
                          <a:srgbClr val="000000"/>
                        </a:solidFill>
                        <a:latin typeface="현대하모니 L" panose="02020603020101020101" pitchFamily="18" charset="-127"/>
                        <a:ea typeface="현대하모니 L" panose="02020603020101020101" pitchFamily="18" charset="-127"/>
                      </a:endParaRPr>
                    </a:p>
                  </a:txBody>
                  <a:tcPr anchor="ctr">
                    <a:lnL w="12700" cmpd="sng">
                      <a:solidFill>
                        <a:srgbClr val="000000"/>
                      </a:solidFill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solidFill>
                        <a:srgbClr val="000000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735464">
                <a:tc gridSpan="2"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9pPr>
                    </a:lstStyle>
                    <a:p>
                      <a:pPr marL="0" marR="0" lvl="0" indent="0" algn="l" defTabSz="914400" rtl="0" eaLnBrk="1" fontAlgn="auto" latinLnBrk="0" hangingPunct="1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  <a:buClrTx/>
                        <a:buSzTx/>
                        <a:buFont typeface="현대하모니 L" panose="02020603020101020101" pitchFamily="18" charset="-127"/>
                        <a:buNone/>
                        <a:defRPr/>
                      </a:pPr>
                      <a:r>
                        <a:rPr lang="en-US" altLang="zh-CN" sz="1000" b="0" i="0" u="none" kern="1200">
                          <a:solidFill>
                            <a:srgbClr val="000000"/>
                          </a:solidFill>
                          <a:latin typeface="현대하모니 L" panose="02020603020101020101" pitchFamily="18" charset="-127"/>
                          <a:ea typeface="현대하모니 L" panose="02020603020101020101" pitchFamily="18" charset="-127"/>
                          <a:cs typeface="+mn-cs"/>
                        </a:rPr>
                        <a:t> </a:t>
                      </a:r>
                      <a:endParaRPr lang="en-US" altLang="zh-CN" sz="1000" b="0" i="0" u="none" kern="1200" dirty="0">
                        <a:solidFill>
                          <a:srgbClr val="000000"/>
                        </a:solidFill>
                        <a:latin typeface="현대하모니 L" panose="02020603020101020101" pitchFamily="18" charset="-127"/>
                        <a:ea typeface="현대하모니 L" panose="02020603020101020101" pitchFamily="18" charset="-127"/>
                        <a:cs typeface="+mn-cs"/>
                      </a:endParaRPr>
                    </a:p>
                  </a:txBody>
                  <a:tcPr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solidFill>
                        <a:srgbClr val="000000"/>
                      </a:solidFill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zh-CN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721979"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9pPr>
                    </a:lstStyle>
                    <a:p>
                      <a:pPr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altLang="ko-KR" sz="1000" b="1" i="0">
                          <a:solidFill>
                            <a:srgbClr val="000000"/>
                          </a:solidFill>
                          <a:latin typeface="현대하모니 L" panose="02020603020101020101" pitchFamily="18" charset="-127"/>
                          <a:ea typeface="현대하모니 L" panose="02020603020101020101" pitchFamily="18" charset="-127"/>
                        </a:rPr>
                        <a:t>Opinion for HMG Impact</a:t>
                      </a:r>
                    </a:p>
                    <a:p>
                      <a:pPr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altLang="ko-KR" sz="1000" b="0" i="0">
                          <a:solidFill>
                            <a:srgbClr val="000000"/>
                          </a:solidFill>
                          <a:latin typeface="현대하모니 L" panose="02020603020101020101" pitchFamily="18" charset="-127"/>
                          <a:ea typeface="현대하모니 L" panose="02020603020101020101" pitchFamily="18" charset="-127"/>
                        </a:rPr>
                        <a:t>Strong candidate for hand / manipulation tracking. Clear relevance to humanoid actuation and near-term line-side adoption.</a:t>
                      </a:r>
                      <a:endParaRPr lang="en-US" altLang="ko-KR" sz="1000" b="0" i="0" kern="1200" dirty="0">
                        <a:solidFill>
                          <a:srgbClr val="000000"/>
                        </a:solidFill>
                        <a:latin typeface="현대하모니 L" panose="02020603020101020101" pitchFamily="18" charset="-127"/>
                        <a:ea typeface="현대하모니 L" panose="02020603020101020101" pitchFamily="18" charset="-127"/>
                        <a:cs typeface="+mn-cs"/>
                      </a:endParaRPr>
                    </a:p>
                  </a:txBody>
                  <a:tcPr>
                    <a:lnL w="12700" cmpd="sng">
                      <a:solidFill>
                        <a:srgbClr val="000000"/>
                      </a:solidFill>
                    </a:lnL>
                    <a:lnR w="12700" cmpd="sng">
                      <a:solidFill>
                        <a:srgbClr val="000000"/>
                      </a:solidFill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solidFill>
                        <a:srgbClr val="000000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9pPr>
                    </a:lstStyle>
                    <a:p>
                      <a:pPr marL="0" marR="0" lvl="0" indent="0" algn="l" defTabSz="914400" rtl="0" eaLnBrk="1" fontAlgn="auto" latinLnBrk="0" hangingPunct="1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kumimoji="0" lang="en-US" altLang="ko-KR" sz="10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현대하모니 L" panose="02020603020101020101" pitchFamily="18" charset="-127"/>
                          <a:ea typeface="현대하모니 L" panose="02020603020101020101" pitchFamily="18" charset="-127"/>
                          <a:cs typeface="+mn-cs"/>
                        </a:rPr>
                        <a:t>Next Step</a:t>
                      </a:r>
                    </a:p>
                    <a:p>
                      <a:pPr marL="0" marR="0" lvl="0" indent="0" algn="l" defTabSz="914400" rtl="0" eaLnBrk="1" fontAlgn="auto" latinLnBrk="0" hangingPunct="1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kumimoji="0" lang="en-US" altLang="ko-KR" sz="1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현대하모니 L" panose="02020603020101020101" pitchFamily="18" charset="-127"/>
                          <a:ea typeface="현대하모니 L" panose="02020603020101020101" pitchFamily="18" charset="-127"/>
                          <a:cs typeface="+mn-cs"/>
                        </a:rPr>
                        <a:t>Validate customer POC depth, manufacturing yield, and whether current wins can scale into repeat production programs.</a:t>
                      </a:r>
                      <a:endParaRPr lang="en-US" altLang="zh-CN" sz="1000" b="0" i="0" kern="1200" baseline="0" dirty="0">
                        <a:solidFill>
                          <a:srgbClr val="000000"/>
                        </a:solidFill>
                        <a:latin typeface="현대하모니 L" panose="02020603020101020101" pitchFamily="18" charset="-127"/>
                        <a:ea typeface="현대하모니 L" panose="02020603020101020101" pitchFamily="18" charset="-127"/>
                        <a:cs typeface="+mn-cs"/>
                      </a:endParaRPr>
                    </a:p>
                  </a:txBody>
                  <a:tcPr>
                    <a:lnL w="12700" cmpd="sng">
                      <a:solidFill>
                        <a:srgbClr val="000000"/>
                      </a:solidFill>
                    </a:lnL>
                    <a:lnR w="12700" cmpd="sng">
                      <a:solidFill>
                        <a:srgbClr val="000000"/>
                      </a:solidFill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solidFill>
                        <a:srgbClr val="000000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graphicFrame>
        <p:nvGraphicFramePr>
          <p:cNvPr id="7" name="表格 11"/>
          <p:cNvGraphicFramePr>
            <a:graphicFrameLocks noGrp="1"/>
          </p:cNvGraphicFramePr>
          <p:nvPr>
            <p:custDataLst>
              <p:tags r:id="rId2"/>
            </p:custDataLst>
            <p:extLst>
              <p:ext uri="{D42A27DB-BD31-4B8C-83A1-F6EECF244321}">
                <p14:modId xmlns:p14="http://schemas.microsoft.com/office/powerpoint/2010/main" val="1150806634"/>
              </p:ext>
            </p:extLst>
          </p:nvPr>
        </p:nvGraphicFramePr>
        <p:xfrm>
          <a:off x="332440" y="2381499"/>
          <a:ext cx="11690947" cy="3649650"/>
        </p:xfrm>
        <a:graphic>
          <a:graphicData uri="http://schemas.openxmlformats.org/drawingml/2006/table">
            <a:tbl>
              <a:tblPr firstRow="1" bandRow="1"/>
              <a:tblGrid>
                <a:gridCol w="766786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0924161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1171120"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 panose="020F0502020204030204"/>
                          <a:ea typeface="현대하모니 L" panose="02020603020101020101" pitchFamily="18" charset="-127"/>
                        </a:defRPr>
                      </a:lvl1pPr>
                      <a:lvl2pPr marL="4572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 panose="020F0502020204030204"/>
                          <a:ea typeface="현대하모니 L" panose="02020603020101020101" pitchFamily="18" charset="-127"/>
                        </a:defRPr>
                      </a:lvl2pPr>
                      <a:lvl3pPr marL="9144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 panose="020F0502020204030204"/>
                          <a:ea typeface="현대하모니 L" panose="02020603020101020101" pitchFamily="18" charset="-127"/>
                        </a:defRPr>
                      </a:lvl3pPr>
                      <a:lvl4pPr marL="13716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 panose="020F0502020204030204"/>
                          <a:ea typeface="현대하모니 L" panose="02020603020101020101" pitchFamily="18" charset="-127"/>
                        </a:defRPr>
                      </a:lvl4pPr>
                      <a:lvl5pPr marL="18288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 panose="020F0502020204030204"/>
                          <a:ea typeface="현대하모니 L" panose="02020603020101020101" pitchFamily="18" charset="-127"/>
                        </a:defRPr>
                      </a:lvl5pPr>
                      <a:lvl6pPr marL="22860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 panose="020F0502020204030204"/>
                          <a:ea typeface="현대하모니 L" panose="02020603020101020101" pitchFamily="18" charset="-127"/>
                        </a:defRPr>
                      </a:lvl6pPr>
                      <a:lvl7pPr marL="27432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 panose="020F0502020204030204"/>
                          <a:ea typeface="현대하모니 L" panose="02020603020101020101" pitchFamily="18" charset="-127"/>
                        </a:defRPr>
                      </a:lvl7pPr>
                      <a:lvl8pPr marL="32004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 panose="020F0502020204030204"/>
                          <a:ea typeface="현대하모니 L" panose="02020603020101020101" pitchFamily="18" charset="-127"/>
                        </a:defRPr>
                      </a:lvl8pPr>
                      <a:lvl9pPr marL="36576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 panose="020F0502020204030204"/>
                          <a:ea typeface="현대하모니 L" panose="02020603020101020101" pitchFamily="18" charset="-127"/>
                        </a:defRPr>
                      </a:lvl9pPr>
                    </a:lstStyle>
                    <a:p>
                      <a:pPr algn="l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altLang="zh-CN" sz="1000" b="1" i="0" u="none" kern="120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 pitchFamily="18" charset="-127"/>
                          <a:cs typeface="+mn-cs"/>
                        </a:rPr>
                        <a:t>Background</a:t>
                      </a:r>
                      <a:endParaRPr lang="en-US" altLang="zh-CN" sz="1000" b="1" kern="1200" dirty="0">
                        <a:solidFill>
                          <a:srgbClr val="000000"/>
                        </a:solidFill>
                        <a:effectLst/>
                        <a:latin typeface="현대하모니 L" panose="02020603020101020101" pitchFamily="18" charset="-127"/>
                        <a:ea typeface="+mn-ea"/>
                        <a:cs typeface="+mn-cs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rgbClr val="FFFFFF">
                          <a:lumMod val="5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FFFFFF">
                          <a:lumMod val="5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FFFFFF">
                          <a:lumMod val="5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FFFFFF">
                          <a:lumMod val="5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>
                        <a:lumMod val="95000"/>
                      </a:srgbClr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 panose="020F0502020204030204"/>
                          <a:ea typeface="현대하모니 L" panose="02020603020101020101" pitchFamily="18" charset="-127"/>
                        </a:defRPr>
                      </a:lvl1pPr>
                      <a:lvl2pPr marL="4572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 panose="020F0502020204030204"/>
                          <a:ea typeface="현대하모니 L" panose="02020603020101020101" pitchFamily="18" charset="-127"/>
                        </a:defRPr>
                      </a:lvl2pPr>
                      <a:lvl3pPr marL="9144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 panose="020F0502020204030204"/>
                          <a:ea typeface="현대하모니 L" panose="02020603020101020101" pitchFamily="18" charset="-127"/>
                        </a:defRPr>
                      </a:lvl3pPr>
                      <a:lvl4pPr marL="13716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 panose="020F0502020204030204"/>
                          <a:ea typeface="현대하모니 L" panose="02020603020101020101" pitchFamily="18" charset="-127"/>
                        </a:defRPr>
                      </a:lvl4pPr>
                      <a:lvl5pPr marL="18288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 panose="020F0502020204030204"/>
                          <a:ea typeface="현대하모니 L" panose="02020603020101020101" pitchFamily="18" charset="-127"/>
                        </a:defRPr>
                      </a:lvl5pPr>
                      <a:lvl6pPr marL="22860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 panose="020F0502020204030204"/>
                          <a:ea typeface="현대하모니 L" panose="02020603020101020101" pitchFamily="18" charset="-127"/>
                        </a:defRPr>
                      </a:lvl6pPr>
                      <a:lvl7pPr marL="27432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 panose="020F0502020204030204"/>
                          <a:ea typeface="현대하모니 L" panose="02020603020101020101" pitchFamily="18" charset="-127"/>
                        </a:defRPr>
                      </a:lvl7pPr>
                      <a:lvl8pPr marL="32004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 panose="020F0502020204030204"/>
                          <a:ea typeface="현대하모니 L" panose="02020603020101020101" pitchFamily="18" charset="-127"/>
                        </a:defRPr>
                      </a:lvl8pPr>
                      <a:lvl9pPr marL="36576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 panose="020F0502020204030204"/>
                          <a:ea typeface="현대하모니 L" panose="02020603020101020101" pitchFamily="18" charset="-127"/>
                        </a:defRPr>
                      </a:lvl9pPr>
                    </a:lstStyle>
                    <a:p>
                      <a:pPr marL="0" marR="0" lvl="0" indent="0" algn="l" defTabSz="914400" rtl="0" eaLnBrk="1" fontAlgn="auto" latinLnBrk="0" hangingPunct="1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altLang="zh-CN" sz="1000" b="1" i="0" kern="1200" dirty="0">
                          <a:solidFill>
                            <a:srgbClr val="000000"/>
                          </a:solidFill>
                          <a:latin typeface="현대하모니 L" panose="02020603020101020101" pitchFamily="18" charset="-127"/>
                          <a:ea typeface="현대하모니 L" panose="02020603020101020101" pitchFamily="18" charset="-127"/>
                          <a:cs typeface="+mn-cs"/>
                        </a:rPr>
                        <a:t>- Company setup and founder profile</a:t>
                      </a:r>
                    </a:p>
                    <a:p>
                      <a:pPr marL="0" marR="0" lvl="0" indent="0" algn="l" defTabSz="914400" rtl="0" eaLnBrk="1" fontAlgn="auto" latinLnBrk="0" hangingPunct="1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altLang="zh-CN" sz="1000" b="0" i="0" kern="1200" dirty="0">
                          <a:solidFill>
                            <a:srgbClr val="000000"/>
                          </a:solidFill>
                          <a:latin typeface="현대하모니 L" panose="02020603020101020101" pitchFamily="18" charset="-127"/>
                          <a:ea typeface="현대하모니 L" panose="02020603020101020101" pitchFamily="18" charset="-127"/>
                          <a:cs typeface="+mn-cs"/>
                        </a:rPr>
                        <a:t>① </a:t>
                      </a:r>
                      <a:r>
                        <a:rPr lang="en-US" altLang="zh-CN" sz="1000" b="1" i="0" kern="1200" dirty="0">
                          <a:solidFill>
                            <a:srgbClr val="000000"/>
                          </a:solidFill>
                          <a:latin typeface="현대하모니 L" panose="02020603020101020101" pitchFamily="18" charset="-127"/>
                          <a:ea typeface="현대하모니 L" panose="02020603020101020101" pitchFamily="18" charset="-127"/>
                          <a:cs typeface="+mn-cs"/>
                        </a:rPr>
                        <a:t>Founder:</a:t>
                      </a:r>
                      <a:r>
                        <a:rPr lang="en-US" altLang="zh-CN" sz="1000" b="0" i="0" kern="1200" dirty="0">
                          <a:solidFill>
                            <a:srgbClr val="000000"/>
                          </a:solidFill>
                          <a:latin typeface="현대하모니 L" panose="02020603020101020101" pitchFamily="18" charset="-127"/>
                          <a:ea typeface="현대하모니 L" panose="02020603020101020101" pitchFamily="18" charset="-127"/>
                          <a:cs typeface="+mn-cs"/>
                        </a:rPr>
                        <a:t> ex-industrial robotics team from ABB and Xiaomi</a:t>
                      </a:r>
                    </a:p>
                    <a:p>
                      <a:pPr marL="0" marR="0" lvl="0" indent="0" algn="l" defTabSz="914400" rtl="0" eaLnBrk="1" fontAlgn="auto" latinLnBrk="0" hangingPunct="1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altLang="zh-CN" sz="1000" b="0" i="0" kern="1200" dirty="0">
                          <a:solidFill>
                            <a:srgbClr val="000000"/>
                          </a:solidFill>
                          <a:latin typeface="현대하모니 L" panose="02020603020101020101" pitchFamily="18" charset="-127"/>
                          <a:ea typeface="현대하모니 L" panose="02020603020101020101" pitchFamily="18" charset="-127"/>
                          <a:cs typeface="+mn-cs"/>
                        </a:rPr>
                        <a:t>② </a:t>
                      </a:r>
                      <a:r>
                        <a:rPr lang="en-US" altLang="zh-CN" sz="1000" b="1" i="0" kern="1200" dirty="0">
                          <a:solidFill>
                            <a:srgbClr val="000000"/>
                          </a:solidFill>
                          <a:latin typeface="현대하모니 L" panose="02020603020101020101" pitchFamily="18" charset="-127"/>
                          <a:ea typeface="현대하모니 L" panose="02020603020101020101" pitchFamily="18" charset="-127"/>
                          <a:cs typeface="+mn-cs"/>
                        </a:rPr>
                        <a:t>Team:</a:t>
                      </a:r>
                      <a:r>
                        <a:rPr lang="en-US" altLang="zh-CN" sz="1000" b="0" i="0" kern="1200" dirty="0">
                          <a:solidFill>
                            <a:srgbClr val="000000"/>
                          </a:solidFill>
                          <a:latin typeface="현대하모니 L" panose="02020603020101020101" pitchFamily="18" charset="-127"/>
                          <a:ea typeface="현대하모니 L" panose="02020603020101020101" pitchFamily="18" charset="-127"/>
                          <a:cs typeface="+mn-cs"/>
                        </a:rPr>
                        <a:t> 45 people across mechanics, controls, and embodied AI</a:t>
                      </a:r>
                    </a:p>
                    <a:p>
                      <a:pPr marL="0" marR="0" lvl="0" indent="0" algn="l" defTabSz="914400" rtl="0" eaLnBrk="1" fontAlgn="auto" latinLnBrk="0" hangingPunct="1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altLang="zh-CN" sz="1000" b="0" i="0" kern="1200" dirty="0">
                          <a:solidFill>
                            <a:srgbClr val="000000"/>
                          </a:solidFill>
                          <a:latin typeface="현대하모니 L" panose="02020603020101020101" pitchFamily="18" charset="-127"/>
                          <a:ea typeface="현대하모니 L" panose="02020603020101020101" pitchFamily="18" charset="-127"/>
                          <a:cs typeface="+mn-cs"/>
                        </a:rPr>
                        <a:t>③ </a:t>
                      </a:r>
                      <a:r>
                        <a:rPr lang="en-US" altLang="zh-CN" sz="1000" b="1" i="0" kern="1200" dirty="0">
                          <a:solidFill>
                            <a:srgbClr val="000000"/>
                          </a:solidFill>
                          <a:latin typeface="현대하모니 L" panose="02020603020101020101" pitchFamily="18" charset="-127"/>
                          <a:ea typeface="현대하모니 L" panose="02020603020101020101" pitchFamily="18" charset="-127"/>
                          <a:cs typeface="+mn-cs"/>
                        </a:rPr>
                        <a:t>Setup:</a:t>
                      </a:r>
                      <a:r>
                        <a:rPr lang="en-US" altLang="zh-CN" sz="1000" b="0" i="0" kern="1200" dirty="0">
                          <a:solidFill>
                            <a:srgbClr val="000000"/>
                          </a:solidFill>
                          <a:latin typeface="현대하모니 L" panose="02020603020101020101" pitchFamily="18" charset="-127"/>
                          <a:ea typeface="현대하모니 L" panose="02020603020101020101" pitchFamily="18" charset="-127"/>
                          <a:cs typeface="+mn-cs"/>
                        </a:rPr>
                        <a:t> founded in 2024 in Shanghai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rgbClr val="FFFFFF">
                          <a:lumMod val="5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FFFFFF">
                          <a:lumMod val="5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FFFFFF">
                          <a:lumMod val="5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FFFFFF">
                          <a:lumMod val="5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735428"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  <a:ea typeface="현대하모니 L" panose="02020603020101020101" pitchFamily="18" charset="-127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  <a:ea typeface="현대하모니 L" panose="02020603020101020101" pitchFamily="18" charset="-127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  <a:ea typeface="현대하모니 L" panose="02020603020101020101" pitchFamily="18" charset="-127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  <a:ea typeface="현대하모니 L" panose="02020603020101020101" pitchFamily="18" charset="-127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  <a:ea typeface="현대하모니 L" panose="02020603020101020101" pitchFamily="18" charset="-127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  <a:ea typeface="현대하모니 L" panose="02020603020101020101" pitchFamily="18" charset="-127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  <a:ea typeface="현대하모니 L" panose="02020603020101020101" pitchFamily="18" charset="-127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  <a:ea typeface="현대하모니 L" panose="02020603020101020101" pitchFamily="18" charset="-127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  <a:ea typeface="현대하모니 L" panose="02020603020101020101" pitchFamily="18" charset="-127"/>
                        </a:defRPr>
                      </a:lvl9pPr>
                    </a:lstStyle>
                    <a:p>
                      <a:pPr algn="l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altLang="zh-CN" sz="1000" b="1" i="0" kern="1200">
                          <a:solidFill>
                            <a:srgbClr val="000000"/>
                          </a:solidFill>
                          <a:latin typeface="현대하모니 L" panose="02020603020101020101" pitchFamily="18" charset="-127"/>
                          <a:ea typeface="HDharmony L" panose="02020603020101020101" pitchFamily="18" charset="-127"/>
                          <a:cs typeface="+mn-cs"/>
                        </a:rPr>
                        <a:t>Product / Tech</a:t>
                      </a:r>
                      <a:endParaRPr lang="en-US" altLang="zh-CN" sz="1000" b="1" i="0" kern="1200" dirty="0">
                        <a:solidFill>
                          <a:srgbClr val="000000"/>
                        </a:solidFill>
                        <a:latin typeface="현대하모니 L" panose="02020603020101020101" pitchFamily="18" charset="-127"/>
                        <a:ea typeface="HDharmony L" panose="02020603020101020101" pitchFamily="18" charset="-127"/>
                        <a:cs typeface="+mn-cs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rgbClr val="FFFFFF">
                          <a:lumMod val="5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FFFFFF">
                          <a:lumMod val="5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FFFFFF">
                          <a:lumMod val="5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FFFFFF">
                          <a:lumMod val="5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>
                        <a:lumMod val="95000"/>
                      </a:srgbClr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  <a:ea typeface="현대하모니 L" panose="02020603020101020101" pitchFamily="18" charset="-127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  <a:ea typeface="현대하모니 L" panose="02020603020101020101" pitchFamily="18" charset="-127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  <a:ea typeface="현대하모니 L" panose="02020603020101020101" pitchFamily="18" charset="-127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  <a:ea typeface="현대하모니 L" panose="02020603020101020101" pitchFamily="18" charset="-127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  <a:ea typeface="현대하모니 L" panose="02020603020101020101" pitchFamily="18" charset="-127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  <a:ea typeface="현대하모니 L" panose="02020603020101020101" pitchFamily="18" charset="-127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  <a:ea typeface="현대하모니 L" panose="02020603020101020101" pitchFamily="18" charset="-127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  <a:ea typeface="현대하모니 L" panose="02020603020101020101" pitchFamily="18" charset="-127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  <a:ea typeface="현대하모니 L" panose="02020603020101020101" pitchFamily="18" charset="-127"/>
                        </a:defRPr>
                      </a:lvl9pPr>
                    </a:lstStyle>
                    <a:p>
                      <a:pPr marL="0" marR="0" lvl="0" indent="0" algn="l" defTabSz="914400" rtl="0" eaLnBrk="1" fontAlgn="auto" latinLnBrk="0" hangingPunct="1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altLang="zh-CN" sz="1000" b="1" i="0" kern="1200" dirty="0">
                          <a:solidFill>
                            <a:srgbClr val="000000"/>
                          </a:solidFill>
                          <a:latin typeface="현대하모니 L" panose="02020603020101020101" pitchFamily="18" charset="-127"/>
                          <a:ea typeface="현대하모니 L" panose="02020603020101020101" pitchFamily="18" charset="-127"/>
                          <a:cs typeface="+mn-cs"/>
                          <a:sym typeface="+mn-ea"/>
                        </a:rPr>
                        <a:t>- Core product and validation status</a:t>
                      </a:r>
                    </a:p>
                    <a:p>
                      <a:pPr marL="0" marR="0" lvl="0" indent="0" algn="l" defTabSz="914400" rtl="0" eaLnBrk="1" fontAlgn="auto" latinLnBrk="0" hangingPunct="1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defRPr/>
                      </a:pPr>
                      <a:r>
                        <a:rPr lang="en-US" altLang="zh-CN" sz="1000" b="1" i="0" kern="1200" dirty="0">
                          <a:solidFill>
                            <a:srgbClr val="000000"/>
                          </a:solidFill>
                          <a:latin typeface="현대하모니 L" panose="02020603020101020101" pitchFamily="18" charset="-127"/>
                          <a:ea typeface="현대하모니 L" panose="02020603020101020101" pitchFamily="18" charset="-127"/>
                          <a:cs typeface="+mn-cs"/>
                          <a:sym typeface="+mn-ea"/>
                        </a:rPr>
                        <a:t>.</a:t>
                      </a:r>
                      <a:r>
                        <a:rPr lang="zh-CN" altLang="en-US" sz="1000" b="1" i="0" kern="1200" dirty="0">
                          <a:solidFill>
                            <a:srgbClr val="000000"/>
                          </a:solidFill>
                          <a:latin typeface="현대하모니 L" panose="02020603020101020101" pitchFamily="18" charset="-127"/>
                          <a:ea typeface="현대하모니 L" panose="02020603020101020101" pitchFamily="18" charset="-127"/>
                          <a:cs typeface="+mn-cs"/>
                          <a:sym typeface="+mn-ea"/>
                        </a:rPr>
                        <a:t> </a:t>
                      </a:r>
                      <a:r>
                        <a:rPr lang="en-US" altLang="zh-CN" sz="1000" b="1" i="0" kern="1200" dirty="0">
                          <a:solidFill>
                            <a:srgbClr val="000000"/>
                          </a:solidFill>
                          <a:latin typeface="현대하모니 L" panose="02020603020101020101" pitchFamily="18" charset="-127"/>
                          <a:ea typeface="현대하모니 L" panose="02020603020101020101" pitchFamily="18" charset="-127"/>
                          <a:cs typeface="+mn-cs"/>
                          <a:sym typeface="+mn-ea"/>
                        </a:rPr>
                        <a:t>Product:</a:t>
                      </a:r>
                      <a:r>
                        <a:rPr lang="en-US" altLang="zh-CN" sz="1000" b="0" i="0" kern="1200" dirty="0">
                          <a:solidFill>
                            <a:srgbClr val="000000"/>
                          </a:solidFill>
                          <a:latin typeface="현대하모니 L" panose="02020603020101020101" pitchFamily="18" charset="-127"/>
                          <a:ea typeface="현대하모니 L" panose="02020603020101020101" pitchFamily="18" charset="-127"/>
                          <a:cs typeface="+mn-cs"/>
                          <a:sym typeface="+mn-ea"/>
                        </a:rPr>
                        <a:t> 12-DoF dexterous hand and manipulation control stack</a:t>
                      </a:r>
                    </a:p>
                    <a:p>
                      <a:pPr marL="0" marR="0" lvl="0" indent="0" algn="l" defTabSz="914400" rtl="0" eaLnBrk="1" fontAlgn="auto" latinLnBrk="0" hangingPunct="1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altLang="zh-CN" sz="1000" b="0" i="0" kern="1200" dirty="0">
                          <a:solidFill>
                            <a:srgbClr val="000000"/>
                          </a:solidFill>
                          <a:latin typeface="현대하모니 L" panose="02020603020101020101" pitchFamily="18" charset="-127"/>
                          <a:ea typeface="현대하모니 L" panose="02020603020101020101" pitchFamily="18" charset="-127"/>
                          <a:cs typeface="+mn-cs"/>
                          <a:sym typeface="+mn-ea"/>
                        </a:rPr>
                        <a:t>. </a:t>
                      </a:r>
                      <a:r>
                        <a:rPr lang="en-US" altLang="zh-CN" sz="1000" b="1" i="0" kern="1200" dirty="0">
                          <a:solidFill>
                            <a:srgbClr val="000000"/>
                          </a:solidFill>
                          <a:latin typeface="현대하모니 L" panose="02020603020101020101" pitchFamily="18" charset="-127"/>
                          <a:ea typeface="현대하모니 L" panose="02020603020101020101" pitchFamily="18" charset="-127"/>
                          <a:cs typeface="+mn-cs"/>
                          <a:sym typeface="+mn-ea"/>
                        </a:rPr>
                        <a:t>Validation:</a:t>
                      </a:r>
                      <a:r>
                        <a:rPr lang="en-US" altLang="zh-CN" sz="1000" b="0" i="0" kern="1200" dirty="0">
                          <a:solidFill>
                            <a:srgbClr val="000000"/>
                          </a:solidFill>
                          <a:latin typeface="현대하모니 L" panose="02020603020101020101" pitchFamily="18" charset="-127"/>
                          <a:ea typeface="현대하모니 L" panose="02020603020101020101" pitchFamily="18" charset="-127"/>
                          <a:cs typeface="+mn-cs"/>
                          <a:sym typeface="+mn-ea"/>
                        </a:rPr>
                        <a:t> shipped to </a:t>
                      </a:r>
                      <a:r>
                        <a:rPr lang="en-US" altLang="zh-CN" sz="1000" b="1" i="0" kern="1200" dirty="0">
                          <a:solidFill>
                            <a:srgbClr val="0749FA"/>
                          </a:solidFill>
                          <a:latin typeface="현대하모니 L" panose="02020603020101020101" pitchFamily="18" charset="-127"/>
                          <a:ea typeface="현대하모니 L" panose="02020603020101020101" pitchFamily="18" charset="-127"/>
                          <a:cs typeface="+mn-cs"/>
                          <a:sym typeface="+mn-ea"/>
                        </a:rPr>
                        <a:t>3 line-side customers</a:t>
                      </a:r>
                      <a:r>
                        <a:rPr lang="en-US" altLang="zh-CN" sz="1000" b="0" i="0" kern="1200" dirty="0">
                          <a:solidFill>
                            <a:srgbClr val="0749FA"/>
                          </a:solidFill>
                          <a:latin typeface="현대하모니 L" panose="02020603020101020101" pitchFamily="18" charset="-127"/>
                          <a:ea typeface="현대하모니 L" panose="02020603020101020101" pitchFamily="18" charset="-127"/>
                          <a:cs typeface="+mn-cs"/>
                          <a:sym typeface="+mn-ea"/>
                        </a:rPr>
                        <a:t> and entered </a:t>
                      </a:r>
                      <a:r>
                        <a:rPr lang="en-US" altLang="zh-CN" sz="1000" b="1" i="0" kern="1200" dirty="0">
                          <a:solidFill>
                            <a:srgbClr val="0749FA"/>
                          </a:solidFill>
                          <a:latin typeface="현대하모니 L" panose="02020603020101020101" pitchFamily="18" charset="-127"/>
                          <a:ea typeface="현대하모니 L" panose="02020603020101020101" pitchFamily="18" charset="-127"/>
                          <a:cs typeface="+mn-cs"/>
                          <a:sym typeface="+mn-ea"/>
                        </a:rPr>
                        <a:t>2 paid pilots</a:t>
                      </a:r>
                    </a:p>
                    <a:p>
                      <a:pPr marL="0" marR="0" lvl="0" indent="0" algn="l" defTabSz="914400" rtl="0" eaLnBrk="1" fontAlgn="auto" latinLnBrk="0" hangingPunct="1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altLang="zh-CN" sz="1000" b="0" i="0" kern="1200" dirty="0">
                          <a:solidFill>
                            <a:srgbClr val="000000"/>
                          </a:solidFill>
                          <a:latin typeface="현대하모니 L" panose="02020603020101020101" pitchFamily="18" charset="-127"/>
                          <a:ea typeface="현대하모니 L" panose="02020603020101020101" pitchFamily="18" charset="-127"/>
                          <a:cs typeface="+mn-cs"/>
                          <a:sym typeface="+mn-ea"/>
                        </a:rPr>
                        <a:t>.  </a:t>
                      </a:r>
                      <a:r>
                        <a:rPr lang="en-US" altLang="zh-CN" sz="1000" b="1" i="0" kern="1200" dirty="0">
                          <a:solidFill>
                            <a:srgbClr val="000000"/>
                          </a:solidFill>
                          <a:latin typeface="현대하모니 L" panose="02020603020101020101" pitchFamily="18" charset="-127"/>
                          <a:ea typeface="현대하모니 L" panose="02020603020101020101" pitchFamily="18" charset="-127"/>
                          <a:cs typeface="+mn-cs"/>
                          <a:sym typeface="+mn-ea"/>
                        </a:rPr>
                        <a:t>Metric:</a:t>
                      </a:r>
                      <a:r>
                        <a:rPr lang="en-US" altLang="zh-CN" sz="1000" b="0" i="0" kern="1200" dirty="0">
                          <a:solidFill>
                            <a:srgbClr val="000000"/>
                          </a:solidFill>
                          <a:latin typeface="현대하모니 L" panose="02020603020101020101" pitchFamily="18" charset="-127"/>
                          <a:ea typeface="현대하모니 L" panose="02020603020101020101" pitchFamily="18" charset="-127"/>
                          <a:cs typeface="+mn-cs"/>
                          <a:sym typeface="+mn-ea"/>
                        </a:rPr>
                        <a:t> grip repeatability </a:t>
                      </a:r>
                      <a:r>
                        <a:rPr lang="en-US" altLang="zh-CN" sz="1000" b="1" i="0" kern="1200" dirty="0">
                          <a:solidFill>
                            <a:schemeClr val="tx1"/>
                          </a:solidFill>
                          <a:latin typeface="현대하모니 L" panose="02020603020101020101" pitchFamily="18" charset="-127"/>
                          <a:ea typeface="현대하모니 L" panose="02020603020101020101" pitchFamily="18" charset="-127"/>
                          <a:cs typeface="+mn-cs"/>
                          <a:sym typeface="+mn-ea"/>
                        </a:rPr>
                        <a:t>&lt;0.3mm</a:t>
                      </a:r>
                      <a:r>
                        <a:rPr lang="en-US" altLang="zh-CN" sz="1000" b="0" i="0" kern="1200" dirty="0">
                          <a:solidFill>
                            <a:schemeClr val="tx1"/>
                          </a:solidFill>
                          <a:latin typeface="현대하모니 L" panose="02020603020101020101" pitchFamily="18" charset="-127"/>
                          <a:ea typeface="현대하모니 L" panose="02020603020101020101" pitchFamily="18" charset="-127"/>
                          <a:cs typeface="+mn-cs"/>
                          <a:sym typeface="+mn-ea"/>
                        </a:rPr>
                        <a:t> and cycle life </a:t>
                      </a:r>
                      <a:r>
                        <a:rPr lang="en-US" altLang="zh-CN" sz="1000" b="1" i="0" kern="1200" dirty="0">
                          <a:solidFill>
                            <a:schemeClr val="tx1"/>
                          </a:solidFill>
                          <a:latin typeface="현대하모니 L" panose="02020603020101020101" pitchFamily="18" charset="-127"/>
                          <a:ea typeface="현대하모니 L" panose="02020603020101020101" pitchFamily="18" charset="-127"/>
                          <a:cs typeface="+mn-cs"/>
                          <a:sym typeface="+mn-ea"/>
                        </a:rPr>
                        <a:t>&gt;3 million</a:t>
                      </a:r>
                      <a:r>
                        <a:rPr lang="en-US" altLang="zh-CN" sz="1000" b="0" i="0" kern="1200" dirty="0">
                          <a:solidFill>
                            <a:schemeClr val="tx1"/>
                          </a:solidFill>
                          <a:latin typeface="현대하모니 L" panose="02020603020101020101" pitchFamily="18" charset="-127"/>
                          <a:ea typeface="현대하모니 L" panose="02020603020101020101" pitchFamily="18" charset="-127"/>
                          <a:cs typeface="+mn-cs"/>
                          <a:sym typeface="+mn-ea"/>
                        </a:rPr>
                        <a:t> actions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rgbClr val="FFFFFF">
                          <a:lumMod val="5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FFFFFF">
                          <a:lumMod val="5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FFFFFF">
                          <a:lumMod val="5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FFFFFF">
                          <a:lumMod val="5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743102">
                <a:tc>
                  <a:txBody>
                    <a:bodyPr/>
                    <a:lstStyle/>
                    <a:p>
                      <a:pPr algn="l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altLang="zh-CN" sz="1000" b="1" i="0" kern="1200" dirty="0">
                          <a:solidFill>
                            <a:srgbClr val="000000"/>
                          </a:solidFill>
                          <a:latin typeface="현대하모니 L" panose="02020603020101020101" pitchFamily="18" charset="-127"/>
                          <a:ea typeface="HDharmony L" panose="02020603020101020101" pitchFamily="18" charset="-127"/>
                          <a:cs typeface="+mn-cs"/>
                        </a:rPr>
                        <a:t>Manufacturing / GTM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rgbClr val="FFFFFF">
                          <a:lumMod val="5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FFFFFF">
                          <a:lumMod val="5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FFFFFF">
                          <a:lumMod val="5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FFFFFF">
                          <a:lumMod val="5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>
                        <a:lumMod val="95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altLang="zh-CN" sz="1000" b="1" i="0" kern="1200" dirty="0">
                          <a:solidFill>
                            <a:srgbClr val="000000"/>
                          </a:solidFill>
                          <a:latin typeface="현대하모니 L" panose="02020603020101020101" pitchFamily="18" charset="-127"/>
                          <a:ea typeface="현대하모니 L" panose="02020603020101020101" pitchFamily="18" charset="-127"/>
                          <a:cs typeface="+mn-cs"/>
                        </a:rPr>
                        <a:t>- Manufacturing:</a:t>
                      </a:r>
                      <a:r>
                        <a:rPr lang="en-US" altLang="zh-CN" sz="1000" b="0" i="0" kern="1200" dirty="0">
                          <a:solidFill>
                            <a:srgbClr val="000000"/>
                          </a:solidFill>
                          <a:latin typeface="현대하모니 L" panose="02020603020101020101" pitchFamily="18" charset="-127"/>
                          <a:ea typeface="현대하모니 L" panose="02020603020101020101" pitchFamily="18" charset="-127"/>
                          <a:cs typeface="+mn-cs"/>
                        </a:rPr>
                        <a:t> in-house assembly for key joints and sensors; pilot line at</a:t>
                      </a:r>
                      <a:r>
                        <a:rPr lang="en-US" altLang="zh-CN" sz="1000" b="0" i="0" kern="1200" dirty="0">
                          <a:solidFill>
                            <a:schemeClr val="tx1"/>
                          </a:solidFill>
                          <a:latin typeface="현대하모니 L" panose="02020603020101020101" pitchFamily="18" charset="-127"/>
                          <a:ea typeface="현대하모니 L" panose="02020603020101020101" pitchFamily="18" charset="-127"/>
                          <a:cs typeface="+mn-cs"/>
                        </a:rPr>
                        <a:t> </a:t>
                      </a:r>
                      <a:r>
                        <a:rPr lang="en-US" altLang="zh-CN" sz="1000" b="1" i="0" kern="1200" dirty="0">
                          <a:solidFill>
                            <a:schemeClr val="tx1"/>
                          </a:solidFill>
                          <a:latin typeface="현대하모니 L" panose="02020603020101020101" pitchFamily="18" charset="-127"/>
                          <a:ea typeface="현대하모니 L" panose="02020603020101020101" pitchFamily="18" charset="-127"/>
                          <a:cs typeface="+mn-cs"/>
                        </a:rPr>
                        <a:t>5k units/year</a:t>
                      </a:r>
                    </a:p>
                    <a:p>
                      <a:pPr marL="0" marR="0" lvl="0" indent="0" algn="l" defTabSz="914400" rtl="0" eaLnBrk="1" fontAlgn="auto" latinLnBrk="0" hangingPunct="1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altLang="zh-CN" sz="1000" b="0" i="0" kern="1200" dirty="0">
                          <a:solidFill>
                            <a:srgbClr val="000000"/>
                          </a:solidFill>
                          <a:latin typeface="현대하모니 L" panose="02020603020101020101" pitchFamily="18" charset="-127"/>
                          <a:ea typeface="현대하모니 L" panose="02020603020101020101" pitchFamily="18" charset="-127"/>
                          <a:cs typeface="+mn-cs"/>
                        </a:rPr>
                        <a:t>- </a:t>
                      </a:r>
                      <a:r>
                        <a:rPr lang="en-US" altLang="zh-CN" sz="1000" b="1" i="0" kern="1200" dirty="0">
                          <a:solidFill>
                            <a:srgbClr val="000000"/>
                          </a:solidFill>
                          <a:latin typeface="현대하모니 L" panose="02020603020101020101" pitchFamily="18" charset="-127"/>
                          <a:ea typeface="현대하모니 L" panose="02020603020101020101" pitchFamily="18" charset="-127"/>
                          <a:cs typeface="+mn-cs"/>
                        </a:rPr>
                        <a:t>GTM:</a:t>
                      </a:r>
                      <a:r>
                        <a:rPr lang="en-US" altLang="zh-CN" sz="1000" b="0" i="0" kern="1200" dirty="0">
                          <a:solidFill>
                            <a:srgbClr val="000000"/>
                          </a:solidFill>
                          <a:latin typeface="현대하모니 L" panose="02020603020101020101" pitchFamily="18" charset="-127"/>
                          <a:ea typeface="현대하모니 L" panose="02020603020101020101" pitchFamily="18" charset="-127"/>
                          <a:cs typeface="+mn-cs"/>
                        </a:rPr>
                        <a:t> starts from industrial picking and inspection before humanoid expansion</a:t>
                      </a:r>
                      <a:endParaRPr lang="en-US" altLang="zh-CN" sz="1000" b="1" i="0" kern="1200" dirty="0">
                        <a:solidFill>
                          <a:schemeClr val="tx1"/>
                        </a:solidFill>
                        <a:latin typeface="현대하모니 L" panose="02020603020101020101" pitchFamily="18" charset="-127"/>
                        <a:ea typeface="현대하모니 L" panose="02020603020101020101" pitchFamily="18" charset="-127"/>
                        <a:cs typeface="+mn-cs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rgbClr val="FFFFFF">
                          <a:lumMod val="5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FFFFFF">
                          <a:lumMod val="5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FFFFFF">
                          <a:lumMod val="5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FFFFFF">
                          <a:lumMod val="5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pic>
        <p:nvPicPr>
          <p:cNvPr id="5" name="Picture 4">
            <a:extLst>
              <a:ext uri="{FF2B5EF4-FFF2-40B4-BE49-F238E27FC236}">
                <a16:creationId xmlns:a16="http://schemas.microsoft.com/office/drawing/2014/main" id="{8E367185-D213-CD4F-2A8A-DF7B8841C3E1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865805" y="82367"/>
            <a:ext cx="1366971" cy="509867"/>
          </a:xfrm>
          <a:prstGeom prst="rect">
            <a:avLst/>
          </a:prstGeom>
        </p:spPr>
      </p:pic>
    </p:spTree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COMMONDATA" val="eyJoZGlkIjoiODZmMDgxZjRlZmI2NGRhN2U3YjcxMGUyOTIzZDBmZmIifQ==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ABLE_ENDDRAG_ORIGIN_RECT" val="923*478"/>
  <p:tag name="TABLE_ENDDRAG_RECT" val="24*51*923*478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ABLE_ENDDRAG_ORIGIN_RECT" val="922*284"/>
  <p:tag name="TABLE_ENDDRAG_RECT" val="24*182*922*284"/>
</p:tagLst>
</file>

<file path=ppt/theme/theme1.xml><?xml version="1.0" encoding="utf-8"?>
<a:theme xmlns:a="http://schemas.openxmlformats.org/drawingml/2006/main" name="11_기본 디자인">
  <a:themeElements>
    <a:clrScheme name="1_기본 디자인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自定义 6">
      <a:majorFont>
        <a:latin typeface="현대하모니 M"/>
        <a:ea typeface="현대하모니 M"/>
        <a:cs typeface=""/>
      </a:majorFont>
      <a:minorFont>
        <a:latin typeface="현대하모니 L"/>
        <a:ea typeface="현대하모니 L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noFill/>
        <a:ln w="9525" cap="flat" cmpd="sng" algn="ctr">
          <a:solidFill>
            <a:schemeClr val="tx1"/>
          </a:solidFill>
          <a:prstDash val="solid"/>
          <a:round/>
          <a:headEnd type="none" w="med" len="sm"/>
          <a:tailEnd type="none" w="sm" len="sm"/>
        </a:ln>
      </a:spPr>
      <a:bodyPr vert="horz" wrap="none" lIns="91440" tIns="45720" rIns="91440" bIns="45720" numCol="1" anchor="ctr" anchorCtr="0" compatLnSpc="1"/>
      <a:lstStyle>
        <a:defPPr marL="0" marR="0" indent="0" algn="ctr" defTabSz="914400" rtl="0" eaLnBrk="1" fontAlgn="base" latinLnBrk="1" hangingPunct="1">
          <a:lnSpc>
            <a:spcPct val="100000"/>
          </a:lnSpc>
          <a:spcBef>
            <a:spcPct val="50000"/>
          </a:spcBef>
          <a:spcAft>
            <a:spcPct val="0"/>
          </a:spcAft>
          <a:buClrTx/>
          <a:buSzTx/>
          <a:buFontTx/>
          <a:buNone/>
          <a:defRPr kumimoji="1" lang="ko-KR" altLang="en-US" sz="12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굴림" pitchFamily="50" charset="-127"/>
            <a:ea typeface="굴림" pitchFamily="50" charset="-127"/>
            <a:cs typeface="Arial" panose="020B0604020202020204" pitchFamily="34" charset="0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noFill/>
        <a:ln w="9525" cap="flat" cmpd="sng" algn="ctr">
          <a:solidFill>
            <a:schemeClr val="tx1"/>
          </a:solidFill>
          <a:prstDash val="solid"/>
          <a:round/>
          <a:headEnd type="none" w="med" len="sm"/>
          <a:tailEnd type="none" w="sm" len="sm"/>
        </a:ln>
      </a:spPr>
      <a:bodyPr vert="horz" wrap="none" lIns="91440" tIns="45720" rIns="91440" bIns="45720" numCol="1" anchor="ctr" anchorCtr="0" compatLnSpc="1"/>
      <a:lstStyle>
        <a:defPPr marL="0" marR="0" indent="0" algn="ctr" defTabSz="914400" rtl="0" eaLnBrk="1" fontAlgn="base" latinLnBrk="1" hangingPunct="1">
          <a:lnSpc>
            <a:spcPct val="100000"/>
          </a:lnSpc>
          <a:spcBef>
            <a:spcPct val="50000"/>
          </a:spcBef>
          <a:spcAft>
            <a:spcPct val="0"/>
          </a:spcAft>
          <a:buClrTx/>
          <a:buSzTx/>
          <a:buFontTx/>
          <a:buNone/>
          <a:defRPr kumimoji="1" lang="ko-KR" altLang="en-US" sz="12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굴림" pitchFamily="50" charset="-127"/>
            <a:ea typeface="굴림" pitchFamily="50" charset="-127"/>
            <a:cs typeface="Arial" panose="020B0604020202020204" pitchFamily="34" charset="0"/>
          </a:defRPr>
        </a:defPPr>
      </a:lstStyle>
    </a:lnDef>
  </a:objectDefaults>
  <a:extraClrSchemeLst>
    <a:extraClrScheme>
      <a:clrScheme name="1_기본 디자인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BBE0E3"/>
        </a:accent1>
        <a:accent2>
          <a:srgbClr val="333399"/>
        </a:accent2>
        <a:accent3>
          <a:srgbClr val="FFFFFF"/>
        </a:accent3>
        <a:accent4>
          <a:srgbClr val="000000"/>
        </a:accent4>
        <a:accent5>
          <a:srgbClr val="DAEDEF"/>
        </a:accent5>
        <a:accent6>
          <a:srgbClr val="2D2D8A"/>
        </a:accent6>
        <a:hlink>
          <a:srgbClr val="009999"/>
        </a:hlink>
        <a:folHlink>
          <a:srgbClr val="99CC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1_기본 디자인 2">
        <a:dk1>
          <a:srgbClr val="000000"/>
        </a:dk1>
        <a:lt1>
          <a:srgbClr val="FFFFFF"/>
        </a:lt1>
        <a:dk2>
          <a:srgbClr val="000000"/>
        </a:dk2>
        <a:lt2>
          <a:srgbClr val="969696"/>
        </a:lt2>
        <a:accent1>
          <a:srgbClr val="FBDF53"/>
        </a:accent1>
        <a:accent2>
          <a:srgbClr val="FF9966"/>
        </a:accent2>
        <a:accent3>
          <a:srgbClr val="FFFFFF"/>
        </a:accent3>
        <a:accent4>
          <a:srgbClr val="000000"/>
        </a:accent4>
        <a:accent5>
          <a:srgbClr val="FDECB3"/>
        </a:accent5>
        <a:accent6>
          <a:srgbClr val="E78A5C"/>
        </a:accent6>
        <a:hlink>
          <a:srgbClr val="CC3300"/>
        </a:hlink>
        <a:folHlink>
          <a:srgbClr val="9966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1_기본 디자인 3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99CCFF"/>
        </a:accent1>
        <a:accent2>
          <a:srgbClr val="CCCCFF"/>
        </a:accent2>
        <a:accent3>
          <a:srgbClr val="FFFFFF"/>
        </a:accent3>
        <a:accent4>
          <a:srgbClr val="000000"/>
        </a:accent4>
        <a:accent5>
          <a:srgbClr val="CAE2FF"/>
        </a:accent5>
        <a:accent6>
          <a:srgbClr val="B9B9E7"/>
        </a:accent6>
        <a:hlink>
          <a:srgbClr val="3333CC"/>
        </a:hlink>
        <a:folHlink>
          <a:srgbClr val="AF67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1_기본 디자인 4">
        <a:dk1>
          <a:srgbClr val="000000"/>
        </a:dk1>
        <a:lt1>
          <a:srgbClr val="DEF6F1"/>
        </a:lt1>
        <a:dk2>
          <a:srgbClr val="000000"/>
        </a:dk2>
        <a:lt2>
          <a:srgbClr val="969696"/>
        </a:lt2>
        <a:accent1>
          <a:srgbClr val="FFFFFF"/>
        </a:accent1>
        <a:accent2>
          <a:srgbClr val="8DC6FF"/>
        </a:accent2>
        <a:accent3>
          <a:srgbClr val="ECFAF7"/>
        </a:accent3>
        <a:accent4>
          <a:srgbClr val="000000"/>
        </a:accent4>
        <a:accent5>
          <a:srgbClr val="FFFFFF"/>
        </a:accent5>
        <a:accent6>
          <a:srgbClr val="7FB3E7"/>
        </a:accent6>
        <a:hlink>
          <a:srgbClr val="0066CC"/>
        </a:hlink>
        <a:folHlink>
          <a:srgbClr val="00A8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1_기본 디자인 5">
        <a:dk1>
          <a:srgbClr val="000000"/>
        </a:dk1>
        <a:lt1>
          <a:srgbClr val="FFFFD9"/>
        </a:lt1>
        <a:dk2>
          <a:srgbClr val="000000"/>
        </a:dk2>
        <a:lt2>
          <a:srgbClr val="777777"/>
        </a:lt2>
        <a:accent1>
          <a:srgbClr val="FFFFF7"/>
        </a:accent1>
        <a:accent2>
          <a:srgbClr val="33CCCC"/>
        </a:accent2>
        <a:accent3>
          <a:srgbClr val="FFFFE9"/>
        </a:accent3>
        <a:accent4>
          <a:srgbClr val="000000"/>
        </a:accent4>
        <a:accent5>
          <a:srgbClr val="FFFFFA"/>
        </a:accent5>
        <a:accent6>
          <a:srgbClr val="2DB9B9"/>
        </a:accent6>
        <a:hlink>
          <a:srgbClr val="FF5050"/>
        </a:hlink>
        <a:folHlink>
          <a:srgbClr val="FF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1_기본 디자인 6">
        <a:dk1>
          <a:srgbClr val="005A58"/>
        </a:dk1>
        <a:lt1>
          <a:srgbClr val="FFFFFF"/>
        </a:lt1>
        <a:dk2>
          <a:srgbClr val="008080"/>
        </a:dk2>
        <a:lt2>
          <a:srgbClr val="FFFF99"/>
        </a:lt2>
        <a:accent1>
          <a:srgbClr val="006462"/>
        </a:accent1>
        <a:accent2>
          <a:srgbClr val="6D6FC7"/>
        </a:accent2>
        <a:accent3>
          <a:srgbClr val="AAC0C0"/>
        </a:accent3>
        <a:accent4>
          <a:srgbClr val="DADADA"/>
        </a:accent4>
        <a:accent5>
          <a:srgbClr val="AAB8B7"/>
        </a:accent5>
        <a:accent6>
          <a:srgbClr val="6264B4"/>
        </a:accent6>
        <a:hlink>
          <a:srgbClr val="00FFFF"/>
        </a:hlink>
        <a:folHlink>
          <a:srgbClr val="00FF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1_기본 디자인 7">
        <a:dk1>
          <a:srgbClr val="5C1F00"/>
        </a:dk1>
        <a:lt1>
          <a:srgbClr val="FFFFFF"/>
        </a:lt1>
        <a:dk2>
          <a:srgbClr val="800000"/>
        </a:dk2>
        <a:lt2>
          <a:srgbClr val="DFD293"/>
        </a:lt2>
        <a:accent1>
          <a:srgbClr val="CC3300"/>
        </a:accent1>
        <a:accent2>
          <a:srgbClr val="BE7960"/>
        </a:accent2>
        <a:accent3>
          <a:srgbClr val="C0AAAA"/>
        </a:accent3>
        <a:accent4>
          <a:srgbClr val="DADADA"/>
        </a:accent4>
        <a:accent5>
          <a:srgbClr val="E2ADAA"/>
        </a:accent5>
        <a:accent6>
          <a:srgbClr val="AC6D56"/>
        </a:accent6>
        <a:hlink>
          <a:srgbClr val="FFFF99"/>
        </a:hlink>
        <a:folHlink>
          <a:srgbClr val="D3A21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1_기본 디자인 8">
        <a:dk1>
          <a:srgbClr val="003366"/>
        </a:dk1>
        <a:lt1>
          <a:srgbClr val="FFFFFF"/>
        </a:lt1>
        <a:dk2>
          <a:srgbClr val="000099"/>
        </a:dk2>
        <a:lt2>
          <a:srgbClr val="CCFFFF"/>
        </a:lt2>
        <a:accent1>
          <a:srgbClr val="3366CC"/>
        </a:accent1>
        <a:accent2>
          <a:srgbClr val="00B000"/>
        </a:accent2>
        <a:accent3>
          <a:srgbClr val="AAAACA"/>
        </a:accent3>
        <a:accent4>
          <a:srgbClr val="DADADA"/>
        </a:accent4>
        <a:accent5>
          <a:srgbClr val="ADB8E2"/>
        </a:accent5>
        <a:accent6>
          <a:srgbClr val="009F00"/>
        </a:accent6>
        <a:hlink>
          <a:srgbClr val="66CCFF"/>
        </a:hlink>
        <a:folHlink>
          <a:srgbClr val="FFE701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1_기본 디자인 9">
        <a:dk1>
          <a:srgbClr val="336699"/>
        </a:dk1>
        <a:lt1>
          <a:srgbClr val="FFFFFF"/>
        </a:lt1>
        <a:dk2>
          <a:srgbClr val="000000"/>
        </a:dk2>
        <a:lt2>
          <a:srgbClr val="E3EBF1"/>
        </a:lt2>
        <a:accent1>
          <a:srgbClr val="003399"/>
        </a:accent1>
        <a:accent2>
          <a:srgbClr val="468A4B"/>
        </a:accent2>
        <a:accent3>
          <a:srgbClr val="AAAAAA"/>
        </a:accent3>
        <a:accent4>
          <a:srgbClr val="DADADA"/>
        </a:accent4>
        <a:accent5>
          <a:srgbClr val="AAADCA"/>
        </a:accent5>
        <a:accent6>
          <a:srgbClr val="3F7D43"/>
        </a:accent6>
        <a:hlink>
          <a:srgbClr val="66CCFF"/>
        </a:hlink>
        <a:folHlink>
          <a:srgbClr val="F0E5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1_기본 디자인 10">
        <a:dk1>
          <a:srgbClr val="777777"/>
        </a:dk1>
        <a:lt1>
          <a:srgbClr val="FFFFFF"/>
        </a:lt1>
        <a:dk2>
          <a:srgbClr val="686B5D"/>
        </a:dk2>
        <a:lt2>
          <a:srgbClr val="D1D1CB"/>
        </a:lt2>
        <a:accent1>
          <a:srgbClr val="909082"/>
        </a:accent1>
        <a:accent2>
          <a:srgbClr val="809EA8"/>
        </a:accent2>
        <a:accent3>
          <a:srgbClr val="B9BAB6"/>
        </a:accent3>
        <a:accent4>
          <a:srgbClr val="DADADA"/>
        </a:accent4>
        <a:accent5>
          <a:srgbClr val="C6C6C1"/>
        </a:accent5>
        <a:accent6>
          <a:srgbClr val="738F98"/>
        </a:accent6>
        <a:hlink>
          <a:srgbClr val="FFCC66"/>
        </a:hlink>
        <a:folHlink>
          <a:srgbClr val="E9DCB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1_기본 디자인 11">
        <a:dk1>
          <a:srgbClr val="3E3E5C"/>
        </a:dk1>
        <a:lt1>
          <a:srgbClr val="FFFFFF"/>
        </a:lt1>
        <a:dk2>
          <a:srgbClr val="666699"/>
        </a:dk2>
        <a:lt2>
          <a:srgbClr val="FFFFFF"/>
        </a:lt2>
        <a:accent1>
          <a:srgbClr val="60597B"/>
        </a:accent1>
        <a:accent2>
          <a:srgbClr val="6666FF"/>
        </a:accent2>
        <a:accent3>
          <a:srgbClr val="B8B8CA"/>
        </a:accent3>
        <a:accent4>
          <a:srgbClr val="DADADA"/>
        </a:accent4>
        <a:accent5>
          <a:srgbClr val="B6B5BF"/>
        </a:accent5>
        <a:accent6>
          <a:srgbClr val="5C5CE7"/>
        </a:accent6>
        <a:hlink>
          <a:srgbClr val="99CCFF"/>
        </a:hlink>
        <a:folHlink>
          <a:srgbClr val="FFFF9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1_기본 디자인 12">
        <a:dk1>
          <a:srgbClr val="2D2015"/>
        </a:dk1>
        <a:lt1>
          <a:srgbClr val="FFFFFF"/>
        </a:lt1>
        <a:dk2>
          <a:srgbClr val="523E26"/>
        </a:dk2>
        <a:lt2>
          <a:srgbClr val="DFC08D"/>
        </a:lt2>
        <a:accent1>
          <a:srgbClr val="8C7B70"/>
        </a:accent1>
        <a:accent2>
          <a:srgbClr val="8F5F2F"/>
        </a:accent2>
        <a:accent3>
          <a:srgbClr val="B3AFAC"/>
        </a:accent3>
        <a:accent4>
          <a:srgbClr val="DADADA"/>
        </a:accent4>
        <a:accent5>
          <a:srgbClr val="C5BFBB"/>
        </a:accent5>
        <a:accent6>
          <a:srgbClr val="81552A"/>
        </a:accent6>
        <a:hlink>
          <a:srgbClr val="CCB400"/>
        </a:hlink>
        <a:folHlink>
          <a:srgbClr val="8C9EA0"/>
        </a:folHlink>
      </a:clrScheme>
      <a:clrMap bg1="dk2" tx1="lt1" bg2="dk1" tx2="lt2" accent1="accent1" accent2="accent2" accent3="accent3" accent4="accent4" accent5="accent5" accent6="accent6" hlink="hlink" folHlink="folHlink"/>
    </a:extraClrScheme>
  </a:extraClrSchemeLst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等线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82</TotalTime>
  <Words>222</Words>
  <Application>Microsoft Office PowerPoint</Application>
  <PresentationFormat>Widescreen</PresentationFormat>
  <Paragraphs>28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8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10" baseType="lpstr">
      <vt:lpstr>굴림</vt:lpstr>
      <vt:lpstr>현대하모니 L</vt:lpstr>
      <vt:lpstr>현대하모니 M</vt:lpstr>
      <vt:lpstr>Helvetica Neue</vt:lpstr>
      <vt:lpstr>HY헤드라인M</vt:lpstr>
      <vt:lpstr>等线</vt:lpstr>
      <vt:lpstr>Arial</vt:lpstr>
      <vt:lpstr>Calibri</vt:lpstr>
      <vt:lpstr>11_기본 디자인</vt:lpstr>
      <vt:lpstr>PowerPoint Presentation</vt:lpstr>
    </vt:vector>
  </TitlesOfParts>
  <Company>Hyundai Motor Group China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演示文稿</dc:title>
  <dc:creator>费凡(费凡)</dc:creator>
  <cp:lastModifiedBy>Wei Fang</cp:lastModifiedBy>
  <cp:revision>47</cp:revision>
  <dcterms:created xsi:type="dcterms:W3CDTF">2024-10-22T03:07:00Z</dcterms:created>
  <dcterms:modified xsi:type="dcterms:W3CDTF">2026-04-07T05:38:10Z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MSIP_Label_a538401e-e9b8-4702-8e58-9dc69232b4fa_Enabled">
    <vt:lpwstr>true</vt:lpwstr>
  </property>
  <property fmtid="{D5CDD505-2E9C-101B-9397-08002B2CF9AE}" pid="3" name="MSIP_Label_a538401e-e9b8-4702-8e58-9dc69232b4fa_SetDate">
    <vt:lpwstr>2024-10-22T03:09:53Z</vt:lpwstr>
  </property>
  <property fmtid="{D5CDD505-2E9C-101B-9397-08002B2CF9AE}" pid="4" name="MSIP_Label_a538401e-e9b8-4702-8e58-9dc69232b4fa_Method">
    <vt:lpwstr>Standard</vt:lpwstr>
  </property>
  <property fmtid="{D5CDD505-2E9C-101B-9397-08002B2CF9AE}" pid="5" name="MSIP_Label_a538401e-e9b8-4702-8e58-9dc69232b4fa_Name">
    <vt:lpwstr>平文（AnyUser）</vt:lpwstr>
  </property>
  <property fmtid="{D5CDD505-2E9C-101B-9397-08002B2CF9AE}" pid="6" name="MSIP_Label_a538401e-e9b8-4702-8e58-9dc69232b4fa_SiteId">
    <vt:lpwstr>631880e7-e677-41f0-b381-585bea63a54e</vt:lpwstr>
  </property>
  <property fmtid="{D5CDD505-2E9C-101B-9397-08002B2CF9AE}" pid="7" name="MSIP_Label_a538401e-e9b8-4702-8e58-9dc69232b4fa_ActionId">
    <vt:lpwstr>eff565bd-b495-47fd-bd89-77dad1802430</vt:lpwstr>
  </property>
  <property fmtid="{D5CDD505-2E9C-101B-9397-08002B2CF9AE}" pid="8" name="MSIP_Label_a538401e-e9b8-4702-8e58-9dc69232b4fa_ContentBits">
    <vt:lpwstr>0</vt:lpwstr>
  </property>
  <property fmtid="{D5CDD505-2E9C-101B-9397-08002B2CF9AE}" pid="9" name="ICV">
    <vt:lpwstr>ADC89F0BF5954AB98F89D72420BA6661_13</vt:lpwstr>
  </property>
  <property fmtid="{D5CDD505-2E9C-101B-9397-08002B2CF9AE}" pid="10" name="KSOProductBuildVer">
    <vt:lpwstr>2052-12.1.0.18608</vt:lpwstr>
  </property>
</Properties>
</file>